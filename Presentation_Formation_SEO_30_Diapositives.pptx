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0362895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774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747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233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33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233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206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665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665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665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INDEXATION ET RÉFÉRENCEMENT WEB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194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CB4"/>
                </a:solidFill>
                <a:latin typeface="Calibri"/>
              </a:defRPr>
            </a:pPr>
            <a:r>
              <a:t>Guide Complet et Approfondi — SEO Search Engine Optimization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3108960"/>
            <a:ext cx="1828800" cy="4114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3136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On-Page SEO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3108960"/>
            <a:ext cx="1828800" cy="4114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3136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Techniques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0" y="3108960"/>
            <a:ext cx="1828800" cy="4114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3136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Outils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3108960"/>
            <a:ext cx="1828800" cy="41148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3136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Stratégie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8"/>
                </a:solidFill>
                <a:latin typeface="Calibri"/>
              </a:defRPr>
            </a:pPr>
            <a:r>
              <a:t>Institut Supérieur du Numérique — SupNum, Nouakchott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Spécialité : Développement Web et Multimédia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Module : Indexation et Référencement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Version 1.0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Plan de la présentation — Les 8 parties du manuel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" cy="11430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Fondamentaux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Histoire, fonctionnement, algorithmes,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Ch 1-3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640080" cy="11430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Indexation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45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Crawling, robots.txt, sitemaps,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A0FF"/>
                </a:solidFill>
                <a:latin typeface="Calibri"/>
              </a:defRPr>
            </a:pPr>
            <a:r>
              <a:t>Ch 4-7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39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39"/>
            <a:ext cx="640080" cy="114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4319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51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On-Page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97179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Mots-clés, intention, balises,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383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4A853"/>
                </a:solidFill>
                <a:latin typeface="Calibri"/>
              </a:defRPr>
            </a:pPr>
            <a:r>
              <a:t>Ch 8-12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06039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606039"/>
            <a:ext cx="640080" cy="114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4319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651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97179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Core Web Vitals, perf, mobile,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383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A4335"/>
                </a:solidFill>
                <a:latin typeface="Calibri"/>
              </a:defRPr>
            </a:pPr>
            <a:r>
              <a:t>Ch 13-18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93192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69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Off-Page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Netlinking, link building, E-E-A-T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59B6"/>
                </a:solidFill>
                <a:latin typeface="Calibri"/>
              </a:defRPr>
            </a:pPr>
            <a:r>
              <a:t>Ch 19-21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93192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931920"/>
            <a:ext cx="640080" cy="1143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069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Spécialisé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Local, e-commerce, CMS, vidéo,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A500"/>
                </a:solidFill>
                <a:latin typeface="Calibri"/>
              </a:defRPr>
            </a:pPr>
            <a:r>
              <a:t>Ch 22-27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25780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257800"/>
            <a:ext cx="640080" cy="114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623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GSC, GA4, KPIs, 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6035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BBC04"/>
                </a:solidFill>
                <a:latin typeface="Calibri"/>
              </a:defRPr>
            </a:pPr>
            <a:r>
              <a:t>Ch 28-30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257800"/>
            <a:ext cx="5303520" cy="1143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257800"/>
            <a:ext cx="640080" cy="11430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394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VIII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Stratégie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5623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Audit, plan action, IA, tendances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035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Ch 31-34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Méthodologie de rédaction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3/30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123444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Approche pédagogique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Structure homogène : objectifs → théorie → illustrations → exercices → synthèse</a:t>
            </a:r>
            <a:br/>
            <a:r>
              <a:t>Chaque chapitre suit le même plan pour faciliter l'apprentissage progressif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728655" cy="123444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Documentation Google Search Central • Ingénieurs Google (John Mueller, Gary Illyes)</a:t>
            </a:r>
            <a:br/>
            <a:r>
              <a:t>Recherches académiques • Retours d'expérience de campagnes SEO réelles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123444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Public &amp; prérequis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Étudiants Dév. Web et Multimédia (Licence/Master) • Professionnels du numérique</a:t>
            </a:r>
            <a:br/>
            <a:r>
              <a:t>Prérequis : HTML/CSS • Notions de marketing digital (recommandé)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123444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Volume horaire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692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56 heures (30h cours + 26h TD/TP) • 14 semaines • 8 séquences</a:t>
            </a:r>
            <a:br/>
            <a:r>
              <a:t>Évaluation : CC (30%) • Projet audit (30%) • Examen final (40%)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Structure pédagogique du manuel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4/30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3 objectifs mesurables</a:t>
            </a:r>
            <a:br/>
            <a:r>
              <a:t>par chapitre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08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Synthèses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Points à retenir</a:t>
            </a:r>
            <a:br/>
            <a:r>
              <a:t>fin de chapitre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Exercices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Mise en pratique</a:t>
            </a:r>
            <a:br/>
            <a:r>
              <a:t>des concepts clés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Schémas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Diagrammes SVG</a:t>
            </a:r>
            <a:br/>
            <a:r>
              <a:t>illustrés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0690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21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Référencés avec</a:t>
            </a:r>
            <a:br/>
            <a:r>
              <a:t>prix et usages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0690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A85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 concrets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1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Migrations, CWV,</a:t>
            </a:r>
            <a:br/>
            <a:r>
              <a:t>contenu, international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 — Histoire et évolution des moteurs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5/30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Histoire des moteurs de recherche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50840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1990 : Archie (1er moteur, indexe fichiers FTP)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1994 : Yahoo! (annuaire humain, pas de robot)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1998 : Google (PageRank, index inversé)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2000 : Péripéties (bulle Internet)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2004 : Mises à jour algorithmes (Florida, Boston)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2011 : Panda (qualité contenu)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2012 : Penguin (liens spam)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2013 : Hummingbird (recherche sémantique)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2015 : RankBrain (IA/ML)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2019 : BERT (langage naturel)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2021 : MUM (multimodal)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4846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48463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990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Innovations clés de 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828800"/>
            <a:ext cx="46268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Index inversé : mot-clé → documents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PageRank : autorité via liens entrants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Traitement décentralisé (GoogleFS, BigTable)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Mises à jour algorithmiques régulières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Parts de marché : Google 91%, Bing 3.5%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Baidu (Chine) 2.5%, Yahoo 1.2%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Recherche vocale : 27% des requêtes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Recherche mobile &gt; desktop depuis 2015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SGE (Search Generative Experience) 2024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AI Overviews déployé mondialement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 — Fonctionnement technique des moteurs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6/30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Les 3 étapes fondamentales : Crawling → Indexation →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474720" cy="38404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4747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Crawling (Exploration)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Googlebot parcourt le web via les liens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Commence par une liste d'URLs connues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Extrait les liens de chaque page visitée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Respecte robots.txt et meta robots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Fréquence : quelques jours à semaines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Le budget de crawl est limité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651760"/>
            <a:ext cx="3474720" cy="38404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651760"/>
            <a:ext cx="3474720" cy="41148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Indexation (Stockage)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200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Analyse le contenu de chaque page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Stocke dans un index gigantesque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Index inversé : mot → liste de documents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Prend en compte : texte, balises, attributs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Ignore : mots vides (le, la, de...)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Google My Business : index 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474720" cy="38404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65176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Ranking (Classement)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200+ critères de classement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PageRank : autorité transmise par liens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Pertinence : correspondance requête-contenu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Qualité : E-E-A-T, contenu original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Performance : Core Web Vitals</a:t>
            </a:r>
          </a:p>
          <a:p>
            <a:pPr>
              <a:spcAft>
                <a:spcPts val="600"/>
              </a:spcAft>
              <a:defRPr sz="1100">
                <a:solidFill>
                  <a:srgbClr val="B0C4D8"/>
                </a:solidFill>
                <a:latin typeface="Calibri"/>
              </a:defRPr>
            </a:pPr>
            <a:r>
              <a:t>Personnalisation : historique, localisation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 — IA et moteurs de recherche modernes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7/30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RankBrain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1er système IA de Google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Apprentissage automatique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Traite les requêtes jamais vues (15%)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Associe requête à concepts proches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Améliore avec le temps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BERT (2019)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Bidirectional Encoder Representations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Comprend le contexte des mots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Prépositions (à, dans, pour...) importantes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Impact sur 10% des requêtes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Compréhension du langage naturel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MUM (2021)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Multitask Unified Model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Multimodal : texte, images, vidéo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Comprend 75 langues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Peut générer du langage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Transfère connaissance entre tâches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C04"/>
                </a:solidFill>
                <a:latin typeface="Calibri"/>
              </a:defRPr>
            </a:pPr>
            <a:r>
              <a:t>💡 À retenir : Google utilise l'IA à chaque étape — crawling, indexation ET classement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 — Le processus d'indexation en profondeur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8/30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3716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Le pipeline d'indexation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Analyse → Extraction → Stockage → Mise à jour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Google décompile le HTML, extrait le texte, analyse les liens, génère un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474720" cy="34747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Problèmes courants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Erreurs de crawl (DNS, timeout, 404)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Soft 404 (page vide, code 200)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Pages orphelines (aucun lien interne)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Contenu dupliqué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Pages bloquées par robots.txt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Erreurs 5XX du serveur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926080"/>
            <a:ext cx="3474720" cy="34747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4290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Rapport de couverture GSC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Corriger les erreurs 404 → 301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Maillage interne systématique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Balises canoniques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Revoir robots.txt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Améliorer l'infrastructure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926080"/>
            <a:ext cx="3474720" cy="34747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Vérification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Google Search Console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site:domain.com dans Google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URL Inspection Tool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Log analysis des crawls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Screaming Frog crawl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Rapport d'indexation mensuel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 — Contrôle du crawling : robots.txt et sitemaps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9/30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035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robots.txt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50840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Fichier texte à la racine du site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Directives : User-agent, Disallow, Allow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Exemple : Disallow: /admin/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Ne bloque pas l'indexation (juste le crawl)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Vérification dans GSC → robots.txt Tester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Attention : fichiers sensibles visibles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280160"/>
            <a:ext cx="4846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48463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075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Sitemap 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737360"/>
            <a:ext cx="46268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Liste des pages importantes du site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Balise &lt;loc&gt;, &lt;lastmod&gt;, &lt;changefreq&gt;, &lt;priority&gt;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Limite : 50 000 URLs par sitemap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Soumission via GSC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Types : news, video, image, mobile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Essentiel pour les grands sites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0728655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3367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Balises Meta Robots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663440"/>
            <a:ext cx="105091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&lt;meta name="robots" content="noindex, nofollow"&gt;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noindex : ne pas indexer la page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nofollow : ne pas suivre les liens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Canonical : consolider les signaux (rel="canonical")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Usage : pages duplicate, filtres, pagination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⚠️ Erreur fréquente : canonical sur pagination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 — Budget de crawl et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10/30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3716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Le budget de crawl : pages explorées par période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Facteurs : popularité (PageRank), fraîcheur du contenu, santé du serveur, taille du site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Un budget de crawl limité signifie que Google n'explore pas toutes vos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53035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Facteurs influençant le crawl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83280"/>
            <a:ext cx="508406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Popularité du domaine (PageRank)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Nombre de pages totales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Qualité du contenu (taux de rebond)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Vitesse du serveur (TTFB)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Fréquence de mise à jour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Structure des URLs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Taux d'erreurs (4xx, 5xx)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Qualité du maillage interne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Présence dans le sitemap 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26080"/>
            <a:ext cx="48463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926080"/>
            <a:ext cx="48463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535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Optimisation du crawl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383280"/>
            <a:ext cx="462686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Prioriser le contenu à forte valeur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Supprimer les pages de faible qualité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Améliorer la vitesse du serveur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Optimiser le maillage interne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Utiliser le sitemap XML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Éviter les paramètres d'URL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Consolider le contenu dupliqué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Utiliser noindex sur les pages inutiles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Monitorer via le rapport Crawl Stats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III — Recherche de mots-clés (Keyword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11/30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Calibri"/>
              </a:defRPr>
            </a:pPr>
            <a:r>
              <a:t>La fondation de toute stratégie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La recherche de mots-clés permet de comprendre ce que votre audience recherche et comment elle le formule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474720" cy="29260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Tête de réseau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Courts (1-2 mots)</a:t>
            </a:r>
            <a:br/>
            <a:r>
              <a:t>Volume élevé</a:t>
            </a:r>
            <a:br/>
            <a:r>
              <a:t>Concurrence forte</a:t>
            </a:r>
            <a:br/>
            <a:r>
              <a:t>Ex: "SEO", "assurance"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Difficulté : ★★★★★</a:t>
            </a:r>
            <a:br/>
            <a:r>
              <a:t>Conversion : ★★★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560320"/>
            <a:ext cx="3474720" cy="29260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Corps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Moyens (2-3 mots)</a:t>
            </a:r>
            <a:br/>
            <a:r>
              <a:t>Volume moyen</a:t>
            </a:r>
            <a:br/>
            <a:r>
              <a:t>Concurrence modérée</a:t>
            </a:r>
            <a:br/>
            <a:r>
              <a:t>Ex: "agence SEO Paris"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480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Difficulté : ★★★</a:t>
            </a:r>
            <a:br/>
            <a:r>
              <a:t>Conversion : ★★★★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560320"/>
            <a:ext cx="3474720" cy="29260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Longue traîne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Longs (3+ mots)</a:t>
            </a:r>
            <a:br/>
            <a:r>
              <a:t>Volume faible</a:t>
            </a:r>
            <a:br/>
            <a:r>
              <a:t>Concurrence faible</a:t>
            </a:r>
            <a:br/>
            <a:r>
              <a:t>Ex: "agence SEO pas cher Paris"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80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Difficulté : ★</a:t>
            </a:r>
            <a:br/>
            <a:r>
              <a:t>Conversion : ★★★★★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Outils : Google Keyword Planner, SEMrush, Ahrefs, Ubersuggest, AnswerThePublic, AlsoAsked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III — Intention de recherche (Search Intent)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12/30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Calibri"/>
              </a:defRPr>
            </a:pPr>
            <a:r>
              <a:t>Les 4 types d'intention de recherche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651760" cy="32004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🔍 Informationnelle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L'utilisateur cherche</a:t>
            </a:r>
            <a:br/>
            <a:r>
              <a:t>à apprendre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Ex: "qu'est-ce que le SEO"</a:t>
            </a:r>
            <a:br/>
            <a:r>
              <a:t>"comment fonctionne Google"</a:t>
            </a:r>
            <a:br/>
            <a:r>
              <a:t>Contenu : guides, tutoriels,</a:t>
            </a:r>
            <a:br/>
            <a:r>
              <a:t>articles explicatifs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737360"/>
            <a:ext cx="2651760" cy="32004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📍 Navigationnelle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L'utilisateur cherche</a:t>
            </a:r>
            <a:br/>
            <a:r>
              <a:t>un site spécifique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Ex: "Facebook login"</a:t>
            </a:r>
            <a:br/>
            <a:r>
              <a:t>"YouTube"</a:t>
            </a:r>
            <a:br/>
            <a:r>
              <a:t>"Google Analytics"</a:t>
            </a:r>
            <a:br/>
            <a:r>
              <a:t>Contenu : page d'accueil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37360"/>
            <a:ext cx="2651760" cy="32004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🛍️ Commerciale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L'utilisateur compare</a:t>
            </a:r>
            <a:br/>
            <a:r>
              <a:t>avant d'acheter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Ex: "meilleur outil SEO"</a:t>
            </a:r>
            <a:br/>
            <a:r>
              <a:t>"SEMrush vs Ahrefs"</a:t>
            </a:r>
            <a:br/>
            <a:r>
              <a:t>Contenu : comparatifs,</a:t>
            </a:r>
            <a:br/>
            <a:r>
              <a:t>tests, avis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37360"/>
            <a:ext cx="2651760" cy="32004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💰 Transactionnelle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L'utilisateur est</a:t>
            </a:r>
            <a:br/>
            <a:r>
              <a:t>prêt à acheter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C04"/>
                </a:solidFill>
                <a:latin typeface="Calibri"/>
              </a:defRPr>
            </a:pPr>
            <a:r>
              <a:t>Ex: "acheter nom de domaine"</a:t>
            </a:r>
            <a:br/>
            <a:r>
              <a:t>"abonnement SEMrush"</a:t>
            </a:r>
            <a:br/>
            <a:r>
              <a:t>Contenu : pages produits,</a:t>
            </a:r>
            <a:br/>
            <a:r>
              <a:t>fiches prix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Parcours utilisateur : Informationnel → Navigationnel → Commercial → Transactionnel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C04"/>
                </a:solidFill>
                <a:latin typeface="Calibri"/>
              </a:defRPr>
            </a:pPr>
            <a:r>
              <a:t>💡 Le contenu doit correspondre à l'intention pour bien se classer dans les SERP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III — Optimisation des balises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13/30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Title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2e facteur On-Page le + important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60 caractères max (affichage SERP)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Unique par page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Mot-clé principal au début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Format : "Mot-clé - Nom du site"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Éviter : keyword stuffing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8016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Meta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Influence le CTR (taux de clic)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160 caractères max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Doit donner envie de cliquer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Include mot-clé + call-to-action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Unique par page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Peut ne pas être utilisée par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50292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Headings (H1-H6)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H1 = titre principal (1 par page)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H2 = sections principales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H3 = sous-sections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Hiérarchie logique : H1 &gt; H2 &gt; H3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Mots-clés dans les headings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Accessibilité : structure claire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III — Images, multimédia et maillage 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14/30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Optimisation des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Texte alternatif (alt) : essentiel accessibilité + SEO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Formats modernes : WebP (-30%), AVIF (-50%)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Compression : qualité 80-85% pour photos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Lazy loading natif : loading="lazy"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Dimensions explicites width/height (CLS)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Preload pour les images LCP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Balise picture responsive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&lt;picture&gt; avec sources WebP/AVIF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srcset pour différentes résolutions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sizes pour adapter à la viewport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Fallback JPEG pour navigateurs anciens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Image CDN : Cloudinary, Imgix, imgproxy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WebP supporté partout depuis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728655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935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Maillage interne et Topical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89120"/>
            <a:ext cx="1050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Architecture de l'information : organisation logique des contenus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Topical Clusters : 1 page pilier + articles satellites interconnectés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Silo structurel : catégories et sous-catégories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Breadcrumbs : fil d'Ariane pour la navigation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piliers : contenu long format couvrant un thème en profondeur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Ancre de lien : texte descriptif (pas "cliquez ici")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Profondeur max : 3 clics depuis la page d'accueil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IV — 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15/30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t>Les 3 métriques de l'expérience utilisateur (facteurs de classement depuis 2022)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3200400" cy="2926080"/>
          </a:xfrm>
          <a:prstGeom prst="roundRect">
            <a:avLst/>
          </a:prstGeom>
          <a:solidFill>
            <a:srgbClr val="0D2347"/>
          </a:solidFill>
          <a:ln w="317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A853"/>
                </a:solidFill>
                <a:latin typeface="Calibri"/>
              </a:defRPr>
            </a:pPr>
            <a:r>
              <a:t>LCP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Largest</a:t>
            </a:r>
            <a:br/>
            <a:r>
              <a:t>Contentful</a:t>
            </a:r>
            <a:br/>
            <a:r>
              <a:t>Paint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A853"/>
                </a:solidFill>
                <a:latin typeface="Calibri"/>
              </a:defRPr>
            </a:pPr>
            <a:r>
              <a:t>&lt; 2,5s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8"/>
                </a:solidFill>
                <a:latin typeface="Calibri"/>
              </a:defRPr>
            </a:pPr>
            <a:r>
              <a:t>Vitesse de</a:t>
            </a:r>
            <a:br/>
            <a:r>
              <a:t>chargement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474720"/>
            <a:ext cx="3200400" cy="2926080"/>
          </a:xfrm>
          <a:prstGeom prst="roundRect">
            <a:avLst/>
          </a:prstGeom>
          <a:solidFill>
            <a:srgbClr val="0D2347"/>
          </a:solidFill>
          <a:ln w="317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C04"/>
                </a:solidFill>
                <a:latin typeface="Calibri"/>
              </a:defRPr>
            </a:pPr>
            <a:r>
              <a:t>INP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Interaction</a:t>
            </a:r>
            <a:br/>
            <a:r>
              <a:t>to Next Paint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C04"/>
                </a:solidFill>
                <a:latin typeface="Calibri"/>
              </a:defRPr>
            </a:pPr>
            <a:r>
              <a:t>&lt; 200ms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8"/>
                </a:solidFill>
                <a:latin typeface="Calibri"/>
              </a:defRPr>
            </a:pPr>
            <a:r>
              <a:t>Réactivité</a:t>
            </a:r>
            <a:br/>
            <a:r>
              <a:t>aux clics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474720"/>
            <a:ext cx="3200400" cy="2926080"/>
          </a:xfrm>
          <a:prstGeom prst="roundRect">
            <a:avLst/>
          </a:prstGeom>
          <a:solidFill>
            <a:srgbClr val="0D2347"/>
          </a:solidFill>
          <a:ln w="317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  <a:latin typeface="Calibri"/>
              </a:defRPr>
            </a:pPr>
            <a:r>
              <a:t>CLS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Cumulative</a:t>
            </a:r>
            <a:br/>
            <a:r>
              <a:t>Layout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&lt; 0,1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8"/>
                </a:solidFill>
                <a:latin typeface="Calibri"/>
              </a:defRPr>
            </a:pPr>
            <a:r>
              <a:t>Stabilité</a:t>
            </a:r>
            <a:br/>
            <a:r>
              <a:t>visuelle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Outils : PageSpeed Insights, Chrome UX Report, Lighthouse, CrUX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IV — Performance web avancée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16/30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4747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CDN &amp; Caching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CDN : cache distribué géographiquement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Cloudflare, Fastly, KeyCDN, BunnyCDN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Cache navigateur : Cache-Control max-age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Cache serveur : Varnish, NGINX, Redis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Cache applicatif : APCu, Memcached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Stale-while-revalidate : servir + rafraîchir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TTL longs (30j+) pour assets versionnés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Origin Shield : cache central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188720"/>
            <a:ext cx="34747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HTTP &amp;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HTTP/2 : multiplexage, compression headers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HTTP/3 : QUIC, 0-RTT, sans TCP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WebP : 30% plus léger que JPEG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AVIF : 50% plus léger que JPEG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Lazy loading natif : loading="lazy"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Responsive images : srcset + sizes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Preload : &lt;link rel="preload"&gt; pour LCP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Image CDN : Cloudinary, Imgix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JS &amp;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Code splitting : charger à la demande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Tree shaking : éliminer le code mort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Critical CSS : CSS nécessaire au 1er affichage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Async/defer pour JS non critique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Minification : HTML, CSS, JS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Brotli : 20-30% mieux que Gzip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TTFB &lt; 600ms (serveur + réseau)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Bundle analysis : Webpack, Vite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IV — Mobile-First &amp; Données structurées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17/30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Mobile-First Indexing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 utilise la version mobile pour indexer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Depuis 2019, majorité des sites en mobile-first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Design responsive obligatoire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Taille police minimum : 16px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Espaces cliquables : 48x48px minimum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Pas de contenu masqué sur mobile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Test : Google Mobile-Friendly Test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Performance mobile = prioritaire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Core Web Vitals mobiles pénalisants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Données structurées (Schema.org)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Vocabulaire standardisé pour décrire le contenu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Formats : JSON-LD (recommandé), Microdata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Types essentiels : Article, Product, FAQ, Review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Rich snippets : étoiles, prix, FAQ dans SERP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Test : Google Rich Results Test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Erreurs fréquentes : champs manquants, mauvais type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JSON-LD dans &lt;head&gt; ou &lt;body&gt;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Avantage concurrentiel significatif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Valider régulièrement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IV — JavaScript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18/30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Défis du JavaScript pour le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Googlebot peut exécuter JS (Wave 2) mais avec limites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Ressources JS lentes : délai d'indexation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Contenu injecté en JS non visible au crawl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Erreurs JS silencieuses : contenu manquant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Lazy loading excessif : pages vides au crawl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Hash routing (#!) : problèmes d'indexation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Stratégies de rendu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SSR (Server-Side Rendering) : rendu serveur, indexable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SSG (Static Site Generation) : pages statiques pré-générées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ISR (Incremental Static Regeneration) : SSG + MAJ dynamique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Hydration : JS côté client après rendu HTML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Island Architecture : îlots interactifs dans HTML statique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Recommandé : SSR/SSG pour pages importantes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7286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728655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8503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Vérification du rendu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14800"/>
            <a:ext cx="1050919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 Search Console → URL Inspection → "Afficher comme Google"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Googlebot rend-il la page correctement ? Vérifier la capture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Test avec "Afficher comme Google" : le contenu JS est-il visible ?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Outils : Puppeteer, Playwright pour simuler Googlebot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Vérifier le rendu Google via l'URL Inspection de GSC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Bon indicateur : la page dans Google est identique au rendu HTML initial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⚠️ Éviter : soft 404 JS (page vide retournée avec code JS)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 — Netlinking et Backlinks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19/30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Fondamentaux des backlinks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Les backlinks restent un facteur de classement majeur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Un lien = vote de confiance d'un site vers un autre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Dofollow : transmet l'autorité (PageRank)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Nofollow : ne transmet pas (rel="nofollow")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Qualité &gt; Quantité : 1 lien .edu &gt; 100 liens spam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Profil de liens : diversité des domaines référents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Qualité des backlinks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Autorité du domaine source (DR/Domain Rating)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Pertinence thématique (SEO → site web, pas recettes)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Position du lien (contenu principal &gt; footer)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Texte d'ancrage (anchor text) naturel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Trafic du site source (visiteurs réels)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Ratio dofollow/nofollow naturel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728655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935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Mesure et analyse des backlinks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89120"/>
            <a:ext cx="1050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Ahrefs : Domain Rating (DR), Referring Domains, Backlinks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Majestic : Trust Flow, Citation Flow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Moz : Domain Authority (DA), Page Authority (PA)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mensuel : nouveaux/ perdus backlinks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Désavouer les liens toxiques via Google Disavow Tool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Analyse concurrentielle : qui a des backlinks que vous n'avez pas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 — Link Building et E-E-A-T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20/30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Stratégies de Link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Digital PR : relations presse numériques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Linkable Assets : études, infographies, outils gratuits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Guest Blogging : articles invités sur sites pertinents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Broken Link Building : signaler des liens morts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Skyscraper Technique : améliorer le contenu existant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HARO (Help a Reporter Out) : citations presse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Resource Pages : se faire référencer dans des listes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18872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E-E-A-T (Expérience-Expertise-Autorité-Confiance)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Cadre d'évaluation de la qualité Google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Expérience : contenu basé sur l'expérience réelle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Expertise : qualifications, expertise démontrée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Autorité : reconnu comme référence dans le domaine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Confiance : transparence, mentions légales, contact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YMYL : sites à fort impact (santé, finance, sécurité)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Auteur, biographies,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Améliorer son E-E-A-T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Rédiger des biographies d'auteurs détaillées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Afficher les diplômes, certifications, expériences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Citer des sources officielles et académiques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Maintenir les informations à jour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Politique de confidentialité, CGV, mentions légales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Avis clients vérifiés et réponses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Contributions externes (conférences, publications)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 — SEO Local et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21/30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 Business Profile (GBP) : outil central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Compléter TOUTES les infos (horaires, photos, services)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Citations NAP : Nom, Adresse, Téléphone cohérents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Annuaires : Pages Jaunes, 118000, Yelp, TripAdvisor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Avis clients : répondre systématiquement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Catégories GBP pertinentes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Posts GBP réguliers (offres, événements)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Balises Schema LocalBusiness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Géociblage dans Google Search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Migration 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Types : HTTP→HTTPS, changement domaine, restructuration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Checklist pré-migration : audit complet avant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Mapping URL : chaque ancienne URL → nouvelle URL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301 (permanent) pour les pages définitivement déplacées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302 (temporaire) pour les changements temporaires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Pas de boucles de redirection (A→B→A)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Soumission nouveau sitemap dans GSC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Suivi post-migration : J+1, J+7, J+30, J+90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Plan de rollback si les performances chutent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 — SEO E-commerce et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22/30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Défis : contenu dupliqué (fiches produits similaires)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Architecture : catégories → sous-catégories → produits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Profondeur max 3 clics depuis l'accueil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Filtres et facettes : attention aux URLs infinies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Avis clients : contenu unique + rich snippets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catégories : contenu rédactionnel + descriptions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CMS (WordPress, Shopify, Webflow)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WordPress : Rank Math / Yoast SEO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Shopify : forces (balises auto), faiblesses (URLs, blog)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Webflow : collections CMS dynamiques, sitemap auto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Wix : SEO integre, limitations avancées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Custom CMS : bonnes pratiques à implémenter manuellement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Sécurité : mises à jour, plugins, hébergement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728655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935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Bonnes pratiques par CMS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89120"/>
            <a:ext cx="1050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WordPress : permaliens personnalisés, caching (WP Rocket), images (ShortPixel), CDN (Cloudflare)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Shopify : thème optimisé, apps SEO (Plug in SEO), éditer robots.txt, sitemap personnalisé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Webflow : clean URLs, 301 redirects, meta balises, hosting rapide (Fastly CDN)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Tous : certificat SSL, vitesse, mobile-friendly, données structurées, analytics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 — SEO Vidéo, Vocal et A/B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23/30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4747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Vidéo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YouTube = 2e moteur de recherche mondial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Titre : mot-clé principal au début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Description : 200+ mots, liens, timestamps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Tags : 5-10 tags pertinents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Miniature : personnalisée, texte lisible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Sous-titres : transcription complète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Données structurées VideoObject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Playlists : regroupement thématique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Engagement : likes, commentaires, partages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188720"/>
            <a:ext cx="34747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Vocal (Voice 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27% des recherches sont vocales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Featured snippets = source principale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Réponses concises : 30-40 mots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Format questions-réponses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Langage naturel et conversationnel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PageSpeed : sites rapides favorisés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HTTPS obligatoire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Données structurées FAQ/HowTo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"Position zéro" : snippet + vocal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A/B Testing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645920"/>
            <a:ext cx="32552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SEO Split Testing : tester sans pénaliser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Durée minimum : 2-4 semaines (cycles Google)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Éléments à tester : title tags, meta desc, H1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Contenu : longueur, structure, mots-clés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Données structurées : FAQ, Product, Review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Signification statistique : p &lt; 0.05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Outils : Google Optimize, SEOTesting.com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Une seule variable à la fois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Splitting par URLs (pas aléatoire)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VII — Google Search Console (GSC)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24/30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Rapports essentiels GSC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de couverture : pages indexées, erreurs, exclues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de performance : clics, impressions, CTR, position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Inspection d'URL : test d'indexation par URL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Sitemaps : soumission et statut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robots.txt : testeur de directives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mobiles : problèmes d'ergonomie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Fonctionnalités avancées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Core Web Vitals : LCP, INP, CLS par URL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de liage : pages les plus liées en interne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données structurées : erreurs schema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Rapport manuel actions : pénalités manuelles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Messages Google : notifications importantes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Paramètres d'URL : gestion des paramètres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7286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728655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8503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KPIs essentiels à suivre dans GSC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14800"/>
            <a:ext cx="1050919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Clics : nombre de visites depuis la recherche Google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Impressions : nombre d'affichages dans les résultats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CTR : clics / impressions (moyenne : 3-5%)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Position moyenne : 1-10 (bon), 10-30 (à améliorer)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indexées : surveillance hebdomadaire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Erreurs 404 : repérer et corriger rapidement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Growth : tendances hebdomadaires et mensuelles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VII — Google Analytics 4 et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25/30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Google Analytics 4 (GA4)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Modèle événementiel (pas de sessions)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Engagement : engaged sessions, engagement rate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Trafic organique : Users, New Users, Sessions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et écrans : pages les plus visitées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Acquisition : trafic par canal (organic, direct, social)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Entonnoirs de conversion : parcours utilisateur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Événements : scroll, click, video, conversion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BigQuery : export des données brutes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GA4 vs Universal : migration obligatoire faite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KPIs SEO et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Trafic organique : volume et croissance mensuelle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Positions : suivi des mots-clés cibles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Taux de conversion SEO : objectifs atteints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ROI SEO : valeur du trafic organique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Domain Rating / Authority : évolution mensuelle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Core Web Vitals : LCP, INP, CLS (bon/pass/échec)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Backlinks : nouveaux domaines référents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Pages indexées : % pages indexées / total crawlées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Tableau de bord : Data Studio, Looker, Sheets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VIII — Audit SEO et Plan d'action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26/30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Audit SEO Complet (3 phases)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Phase 1 — Audit technique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Crawl avec Screaming Frog (500 URLs gratuit)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Robots.txt, sitemap.xml, HTTPS, redirections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Core Web Vitals, mobile-friendly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Données structurées, balises HTML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Phase 2 — Audit On-Page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Title tags, meta descriptions, headings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Mots-clés et pertinence du contenu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Qualité rédactionnelle, unicité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Phase 3 — Audit Off-Page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Profil de backlinks (Ahrefs, Majestic)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E-E-A-T, mentions de marque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Analyse concurrentielle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Plan d'Action Stratégique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Priorisation par impact et effort (matrix ICE)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Quick Wins (1-2 sem.) :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Erreurs 404, meta descriptions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Optimisation images, lazy loading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Moyen terme (1-2 mois) :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Contenu piliers, topical clusters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Stratégie de link building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Long terme (3-6 mois) :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Migration/restructuration site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Stratégie de contenu complète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  • Amélioration E-E-A-T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 VIII — SEO, IA et Tendances 2026-2030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27/30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SEO et Intelligence Artificielle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0840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Google SGE (Search Generative Experience) : réponses générées par IA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AI Overviews : résumés IA en haut des SERP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Impact : baisse du trafic vers les sites (zero-click)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IA pour le SEO : génération de contenu, briefs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Analyse sémantique : compréhension du contexte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Personalisation : résultats adaptés à chaque utilisateur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16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Tendances émergentes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Zero-Click Searches : réponses directes sans clic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Search Everywhere : SEO sur toutes les plateformes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Recherche visuelle : Google Lens, images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Recherche vocale : 50% des recherches en 2026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Web3 et SEO décentralisé (nouveaux moteurs)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EEAT renforcé : importance croissante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7286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728655" cy="41148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85032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Prévisions 2026-2030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14800"/>
            <a:ext cx="1050919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L'IA générative va transformer les SERP : moins de clics, plus de réponses directes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Le SEO devient "Search Everywhere Optimization" (Amazon, YouTube, TikTok, ChatGPT)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L'expérience utilisateur (UX) devient le facteur différenciateur principal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Les données structurées et le contenu sémantique seront indispensables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La qualité et l'originalité du contenu primeront sur la quantité</a:t>
            </a:r>
          </a:p>
          <a:p>
            <a:pPr>
              <a:spcAft>
                <a:spcPts val="600"/>
              </a:spcAft>
              <a:defRPr sz="1100">
                <a:solidFill>
                  <a:srgbClr val="0A1628"/>
                </a:solidFill>
                <a:latin typeface="Calibri"/>
              </a:defRPr>
            </a:pPr>
            <a:r>
              <a:t>Recommandation : diversifier les sources de trafic, investir dans la marque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Études de cas — Résultats concrets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28/30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46888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07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Migration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075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1628"/>
                </a:solidFill>
                <a:latin typeface="Calibri"/>
              </a:defRPr>
            </a:pPr>
            <a:r>
              <a:t>HTTP→HTTPS + changement domaine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Trafic : -30% (J1)</a:t>
            </a:r>
            <a:br/>
            <a:r>
              <a:t>Récupération : J+45</a:t>
            </a:r>
            <a:br/>
            <a:r>
              <a:t>→ Trafic x2 à M+6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46888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07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E-commerce CWV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3075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1628"/>
                </a:solidFill>
                <a:latin typeface="Calibri"/>
              </a:defRPr>
            </a:pPr>
            <a:r>
              <a:t>Optimisation LCP, CLS, INP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LCP : 5,8s → 1,9s</a:t>
            </a:r>
            <a:br/>
            <a:r>
              <a:t>CLS : 0,35 → 0,05</a:t>
            </a:r>
            <a:br/>
            <a:r>
              <a:t>INP : 450ms → 120ms</a:t>
            </a:r>
            <a:br/>
            <a:r>
              <a:t>+15% trafic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246888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3035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Stratégie contenu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593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1628"/>
                </a:solidFill>
                <a:latin typeface="Calibri"/>
              </a:defRPr>
            </a:pPr>
            <a:r>
              <a:t>Topical authority 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 → 120 articles</a:t>
            </a:r>
            <a:br/>
            <a:r>
              <a:t>Trafic x5 en 12 mois</a:t>
            </a:r>
            <a:br/>
            <a:r>
              <a:t>+350% backlinks</a:t>
            </a:r>
            <a:br/>
            <a:r>
              <a:t>Meilleures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303520" cy="246888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30352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SEO International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9593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1628"/>
                </a:solidFill>
                <a:latin typeface="Calibri"/>
              </a:defRPr>
            </a:pPr>
            <a:r>
              <a:t>Expansion 5 marchés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+300% trafic FR</a:t>
            </a:r>
            <a:br/>
            <a:r>
              <a:t>Structure sous-rép.</a:t>
            </a:r>
            <a:br/>
            <a:r>
              <a:t>Adaptation culturelle</a:t>
            </a:r>
            <a:br/>
            <a:r>
              <a:t>30% contenu original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Annexes et ressources complémentaires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29/30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📋 Annexe A — Checklist technique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7 catégories : Crawling, Architecture, Performance, Mobile, Schema, Sécurité, International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30+ points de vérification avec seuils précis (LCP &lt; 2.5s, CLS &lt; 0.1,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🛠️ Annexe B — Guide des outils SEO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15 outils avec prix : Google Search Console (gratuit), Screaming Frog (gratuit/£149), Ahrefs ($99/mois)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Métriques clés : trafic organique, positions, CTR, taux d'indexation, DR, CWV, backlinks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🌐 Annexe C — Ressources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Veille : Google Search Status, SEOFrog Roadmap, Twitter @googlesearchc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Communautés : WebmasterWorld, Reddit r/SEO, Google Search Central Help</a:t>
            </a:r>
          </a:p>
          <a:p>
            <a:pPr>
              <a:spcAft>
                <a:spcPts val="600"/>
              </a:spcAft>
              <a:defRPr sz="1200">
                <a:solidFill>
                  <a:srgbClr val="B0C4D8"/>
                </a:solidFill>
                <a:latin typeface="Calibri"/>
              </a:defRPr>
            </a:pPr>
            <a:r>
              <a:t>Certifications : Google SEO Fundamentals, Ahrefs Academy, SEMrush Academy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4114800"/>
            <a:ext cx="8534095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774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747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233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33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233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206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665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665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665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CB4"/>
                </a:solidFill>
                <a:latin typeface="Calibri"/>
              </a:defRPr>
            </a:pPr>
            <a:r>
              <a:t>Guide complet disponible sur 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C4D8"/>
                </a:solidFill>
                <a:latin typeface="Calibri"/>
              </a:defRPr>
            </a:pPr>
            <a:r>
              <a:t>Institut Supérieur du Numérique — SupNum, Nouakchott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Développement Web et Multimédia — Indexation et Référencement Web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A0FF"/>
                </a:solidFill>
                <a:latin typeface="Calibri"/>
              </a:defRPr>
            </a:pPr>
            <a:r>
              <a:t>github.com/mohameden19961/rapport-seo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Version 1.0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