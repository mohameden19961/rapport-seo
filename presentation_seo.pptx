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0D2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4114800"/>
            <a:ext cx="10362895" cy="38100"/>
          </a:xfrm>
          <a:prstGeom prst="rect">
            <a:avLst/>
          </a:prstGeom>
          <a:solidFill>
            <a:srgbClr val="00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82880" y="18288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880" y="73152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2880" y="128016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18288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73152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128016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80160" y="18288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80160" y="73152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80160" y="128016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28800" y="18288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828800" y="73152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828800" y="128016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377440" y="18288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377440" y="73152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377440" y="128016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926080" y="18288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926080" y="73152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926080" y="128016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474720" y="18288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474720" y="73152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474720" y="128016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023360" y="18288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023360" y="73152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023360" y="128016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572000" y="18288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72000" y="73152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572000" y="128016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20640" y="18288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20640" y="73152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120640" y="128016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669280" y="18288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669280" y="73152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669280" y="128016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217920" y="18288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217920" y="73152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217920" y="128016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766560" y="18288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766560" y="73152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766560" y="128016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10972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INDEXATION ET RÉFÉRENCEMENT WEB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210312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DCB4"/>
                </a:solidFill>
                <a:latin typeface="Calibri"/>
              </a:defRPr>
            </a:pPr>
            <a:r>
              <a:t>Guide Complet et Approfondi — SEO Search Engine Optimization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14400" y="3017520"/>
            <a:ext cx="1828800" cy="411480"/>
          </a:xfrm>
          <a:prstGeom prst="roundRect">
            <a:avLst/>
          </a:prstGeom>
          <a:solidFill>
            <a:srgbClr val="FFFFFF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400" y="30449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1628"/>
                </a:solidFill>
                <a:latin typeface="Calibri"/>
              </a:defRPr>
            </a:pPr>
            <a:r>
              <a:t>On-Page SEO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200400" y="3017520"/>
            <a:ext cx="1828800" cy="411480"/>
          </a:xfrm>
          <a:prstGeom prst="roundRect">
            <a:avLst/>
          </a:prstGeom>
          <a:solidFill>
            <a:srgbClr val="FFFFFF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0400" y="30449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1628"/>
                </a:solidFill>
                <a:latin typeface="Calibri"/>
              </a:defRPr>
            </a:pPr>
            <a:r>
              <a:t>Techniques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486400" y="3017520"/>
            <a:ext cx="1828800" cy="411480"/>
          </a:xfrm>
          <a:prstGeom prst="roundRect">
            <a:avLst/>
          </a:prstGeom>
          <a:solidFill>
            <a:srgbClr val="FFFFFF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0" y="30449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1628"/>
                </a:solidFill>
                <a:latin typeface="Calibri"/>
              </a:defRPr>
            </a:pPr>
            <a:r>
              <a:t>Outils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772400" y="3017520"/>
            <a:ext cx="1828800" cy="411480"/>
          </a:xfrm>
          <a:prstGeom prst="roundRect">
            <a:avLst/>
          </a:prstGeom>
          <a:solidFill>
            <a:srgbClr val="FFFFFF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72400" y="30449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1628"/>
                </a:solidFill>
                <a:latin typeface="Calibri"/>
              </a:defRPr>
            </a:pPr>
            <a:r>
              <a:t>Stratégie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" y="47548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C4D8"/>
                </a:solidFill>
                <a:latin typeface="Calibri"/>
              </a:defRPr>
            </a:pPr>
            <a:r>
              <a:t>Institut Supérieur du Numérique — SupNum, Nouakchott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" y="52120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8"/>
                </a:solidFill>
                <a:latin typeface="Calibri"/>
              </a:defRPr>
            </a:pPr>
            <a:r>
              <a:t>Spécialité : Développement Web et Multimédia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B0C4D8"/>
                </a:solidFill>
                <a:latin typeface="Calibri"/>
              </a:defRPr>
            </a:pPr>
            <a:r>
              <a:t>Version 1.0 — Juin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82880"/>
            <a:ext cx="2743200" cy="38100"/>
          </a:xfrm>
          <a:prstGeom prst="rect">
            <a:avLst/>
          </a:prstGeom>
          <a:solidFill>
            <a:srgbClr val="00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Plan de la présentation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1097280"/>
          </a:xfrm>
          <a:prstGeom prst="roundRect">
            <a:avLst/>
          </a:prstGeom>
          <a:solidFill>
            <a:srgbClr val="0D2347"/>
          </a:solidFill>
          <a:ln w="19050">
            <a:solidFill>
              <a:srgbClr val="00D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CB4"/>
                </a:solidFill>
                <a:latin typeface="Calibri"/>
              </a:defRPr>
            </a:pPr>
            <a:r>
              <a:t>Partie 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41732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Fondamentaux des moteurs de recherche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8"/>
                </a:solidFill>
                <a:latin typeface="Calibri"/>
              </a:defRPr>
            </a:pPr>
            <a:r>
              <a:t>Histoire, fonctionnement, 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21488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DCB4"/>
                </a:solidFill>
                <a:latin typeface="Calibri"/>
              </a:defRPr>
            </a:pPr>
            <a:r>
              <a:t>3 chapitres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371600"/>
            <a:ext cx="5303520" cy="1097280"/>
          </a:xfrm>
          <a:prstGeom prst="roundRect">
            <a:avLst/>
          </a:prstGeom>
          <a:solidFill>
            <a:srgbClr val="0D2347"/>
          </a:solidFill>
          <a:ln w="19050">
            <a:solidFill>
              <a:srgbClr val="00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4173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CB4"/>
                </a:solidFill>
                <a:latin typeface="Calibri"/>
              </a:defRPr>
            </a:pPr>
            <a:r>
              <a:t>Partie 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141732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L'Indexation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7830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8"/>
                </a:solidFill>
                <a:latin typeface="Calibri"/>
              </a:defRPr>
            </a:pPr>
            <a:r>
              <a:t>Crawling, robots.txt, sitemaps, budget de crawl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21488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DCB4"/>
                </a:solidFill>
                <a:latin typeface="Calibri"/>
              </a:defRPr>
            </a:pPr>
            <a:r>
              <a:t>4 chapitres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651760"/>
            <a:ext cx="5303520" cy="1097280"/>
          </a:xfrm>
          <a:prstGeom prst="roundRect">
            <a:avLst/>
          </a:prstGeom>
          <a:solidFill>
            <a:srgbClr val="0D2347"/>
          </a:solidFill>
          <a:ln w="19050">
            <a:solidFill>
              <a:srgbClr val="00D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6974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CB4"/>
                </a:solidFill>
                <a:latin typeface="Calibri"/>
              </a:defRPr>
            </a:pPr>
            <a:r>
              <a:t>Partie III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26974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SEO On-Page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0632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8"/>
                </a:solidFill>
                <a:latin typeface="Calibri"/>
              </a:defRPr>
            </a:pPr>
            <a:r>
              <a:t>Mots-clés, intention, balises HTML, images, maillage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4290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DCB4"/>
                </a:solidFill>
                <a:latin typeface="Calibri"/>
              </a:defRPr>
            </a:pPr>
            <a:r>
              <a:t>5 chapitres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651760"/>
            <a:ext cx="5303520" cy="1097280"/>
          </a:xfrm>
          <a:prstGeom prst="roundRect">
            <a:avLst/>
          </a:prstGeom>
          <a:solidFill>
            <a:srgbClr val="0D2347"/>
          </a:solidFill>
          <a:ln w="19050">
            <a:solidFill>
              <a:srgbClr val="00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6974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CB4"/>
                </a:solidFill>
                <a:latin typeface="Calibri"/>
              </a:defRPr>
            </a:pPr>
            <a:r>
              <a:t>Partie IV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26974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SEO Technique Avancé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0632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8"/>
                </a:solidFill>
                <a:latin typeface="Calibri"/>
              </a:defRPr>
            </a:pPr>
            <a:r>
              <a:t>Core Web Vitals, performance, mobile, schema, JS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34290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DCB4"/>
                </a:solidFill>
                <a:latin typeface="Calibri"/>
              </a:defRPr>
            </a:pPr>
            <a:r>
              <a:t>6 chapitres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931920"/>
            <a:ext cx="5303520" cy="1097280"/>
          </a:xfrm>
          <a:prstGeom prst="roundRect">
            <a:avLst/>
          </a:prstGeom>
          <a:solidFill>
            <a:srgbClr val="0D2347"/>
          </a:solidFill>
          <a:ln w="19050">
            <a:solidFill>
              <a:srgbClr val="00D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9776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CB4"/>
                </a:solidFill>
                <a:latin typeface="Calibri"/>
              </a:defRPr>
            </a:pPr>
            <a:r>
              <a:t>Partie 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397764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SEO Off-Page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343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8"/>
                </a:solidFill>
                <a:latin typeface="Calibri"/>
              </a:defRPr>
            </a:pPr>
            <a:r>
              <a:t>Netlinking, link building, E-E-A-T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47091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DCB4"/>
                </a:solidFill>
                <a:latin typeface="Calibri"/>
              </a:defRPr>
            </a:pPr>
            <a:r>
              <a:t>3 chapitres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931920"/>
            <a:ext cx="5303520" cy="1097280"/>
          </a:xfrm>
          <a:prstGeom prst="roundRect">
            <a:avLst/>
          </a:prstGeom>
          <a:solidFill>
            <a:srgbClr val="0D2347"/>
          </a:solidFill>
          <a:ln w="19050">
            <a:solidFill>
              <a:srgbClr val="00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39776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CB4"/>
                </a:solidFill>
                <a:latin typeface="Calibri"/>
              </a:defRPr>
            </a:pPr>
            <a:r>
              <a:t>Partie VI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397764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SEO Spécialisé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4343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8"/>
                </a:solidFill>
                <a:latin typeface="Calibri"/>
              </a:defRPr>
            </a:pPr>
            <a:r>
              <a:t>Local, e-commerce, CMS, vidéo, vocal, A/B testing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47091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DCB4"/>
                </a:solidFill>
                <a:latin typeface="Calibri"/>
              </a:defRPr>
            </a:pPr>
            <a:r>
              <a:t>6 chapitres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5212079"/>
            <a:ext cx="5303520" cy="1097280"/>
          </a:xfrm>
          <a:prstGeom prst="roundRect">
            <a:avLst/>
          </a:prstGeom>
          <a:solidFill>
            <a:srgbClr val="0D2347"/>
          </a:solidFill>
          <a:ln w="19050">
            <a:solidFill>
              <a:srgbClr val="00D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25779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CB4"/>
                </a:solidFill>
                <a:latin typeface="Calibri"/>
              </a:defRPr>
            </a:pPr>
            <a:r>
              <a:t>Partie VII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5257799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Mesure et Analyse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62355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8"/>
                </a:solidFill>
                <a:latin typeface="Calibri"/>
              </a:defRPr>
            </a:pPr>
            <a:r>
              <a:t>GSC, GA4, KPIs et reporting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46320" y="598931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DCB4"/>
                </a:solidFill>
                <a:latin typeface="Calibri"/>
              </a:defRPr>
            </a:pPr>
            <a:r>
              <a:t>3 chapitres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5212079"/>
            <a:ext cx="5303520" cy="1097280"/>
          </a:xfrm>
          <a:prstGeom prst="roundRect">
            <a:avLst/>
          </a:prstGeom>
          <a:solidFill>
            <a:srgbClr val="0D2347"/>
          </a:solidFill>
          <a:ln w="19050">
            <a:solidFill>
              <a:srgbClr val="00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0" y="525779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CB4"/>
                </a:solidFill>
                <a:latin typeface="Calibri"/>
              </a:defRPr>
            </a:pPr>
            <a:r>
              <a:t>Partie VIII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0" y="5257799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Stratégie et Tendances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562355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8"/>
                </a:solidFill>
                <a:latin typeface="Calibri"/>
              </a:defRPr>
            </a:pPr>
            <a:r>
              <a:t>Audit, plan d'action, IA, futur du SEO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598931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DCB4"/>
                </a:solidFill>
                <a:latin typeface="Calibri"/>
              </a:defRPr>
            </a:pPr>
            <a:r>
              <a:t>4 chapitres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82880"/>
            <a:ext cx="2743200" cy="381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Méthodologie de rédaction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362895" cy="868680"/>
          </a:xfrm>
          <a:prstGeom prst="roundRect">
            <a:avLst/>
          </a:prstGeom>
          <a:solidFill>
            <a:srgbClr val="0D2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17320"/>
            <a:ext cx="457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417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A853"/>
                </a:solidFill>
                <a:latin typeface="Calibri"/>
              </a:defRPr>
            </a:pPr>
            <a:r>
              <a:t>Approche pédagogique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7830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Structure homogène par chapitre : objectifs → théorie → illustrations → exercices → synthèse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377440"/>
            <a:ext cx="10362895" cy="868680"/>
          </a:xfrm>
          <a:prstGeom prst="roundRect">
            <a:avLst/>
          </a:prstGeom>
          <a:solidFill>
            <a:srgbClr val="0D2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423160"/>
            <a:ext cx="457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423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A853"/>
                </a:solidFill>
                <a:latin typeface="Calibri"/>
              </a:defRPr>
            </a:pPr>
            <a:r>
              <a:t>Sources officielles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7889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Documentation Google Search Central, ingénieurs Google (John Mueller, Gary Illyes), recherches académiques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383280"/>
            <a:ext cx="10362895" cy="868680"/>
          </a:xfrm>
          <a:prstGeom prst="roundRect">
            <a:avLst/>
          </a:prstGeom>
          <a:solidFill>
            <a:srgbClr val="0D2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429000"/>
            <a:ext cx="457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429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A853"/>
                </a:solidFill>
                <a:latin typeface="Calibri"/>
              </a:defRPr>
            </a:pPr>
            <a:r>
              <a:t>Public cible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7947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Étudiants Développement Web et Multimédia (Licence/Master), professionnels du numérique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389120"/>
            <a:ext cx="10362895" cy="868680"/>
          </a:xfrm>
          <a:prstGeom prst="roundRect">
            <a:avLst/>
          </a:prstGeom>
          <a:solidFill>
            <a:srgbClr val="0D2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434840"/>
            <a:ext cx="457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434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A853"/>
                </a:solidFill>
                <a:latin typeface="Calibri"/>
              </a:defRPr>
            </a:pPr>
            <a:r>
              <a:t>Prérequis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8006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Connaissances de base en HTML/CSS, familiarité avec le Web, notions de marketing digital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394960"/>
            <a:ext cx="10362895" cy="868680"/>
          </a:xfrm>
          <a:prstGeom prst="roundRect">
            <a:avLst/>
          </a:prstGeom>
          <a:solidFill>
            <a:srgbClr val="0D2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440680"/>
            <a:ext cx="457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440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A853"/>
                </a:solidFill>
                <a:latin typeface="Calibri"/>
              </a:defRPr>
            </a:pPr>
            <a:r>
              <a:t>Volume horaire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58064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56 heures (30h cours + 26h TD/TP), réparties sur 14 semaines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82880"/>
            <a:ext cx="2743200" cy="38100"/>
          </a:xfrm>
          <a:prstGeom prst="rect">
            <a:avLst/>
          </a:prstGeom>
          <a:solidFill>
            <a:srgbClr val="00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Partie I — Fondamentaux des moteurs de recherche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7472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D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474720" cy="457200"/>
          </a:xfrm>
          <a:prstGeom prst="rect">
            <a:avLst/>
          </a:prstGeom>
          <a:solidFill>
            <a:srgbClr val="00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A1628"/>
                </a:solidFill>
                <a:latin typeface="Calibri"/>
              </a:defRPr>
            </a:pPr>
            <a:r>
              <a:t>Histoire &amp; évolution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74520"/>
            <a:ext cx="32004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A1628"/>
                </a:solidFill>
                <a:latin typeface="Calibri"/>
              </a:defRPr>
            </a:pPr>
            <a:r>
              <a:t>1990 : Archie (1er moteur)</a:t>
            </a:r>
          </a:p>
          <a:p>
            <a:pPr>
              <a:spcAft>
                <a:spcPts val="600"/>
              </a:spcAft>
              <a:defRPr sz="1200">
                <a:solidFill>
                  <a:srgbClr val="0A1628"/>
                </a:solidFill>
                <a:latin typeface="Calibri"/>
              </a:defRPr>
            </a:pPr>
            <a:r>
              <a:t>1998 : Google et le PageRank</a:t>
            </a:r>
          </a:p>
          <a:p>
            <a:pPr>
              <a:spcAft>
                <a:spcPts val="600"/>
              </a:spcAft>
              <a:defRPr sz="1200">
                <a:solidFill>
                  <a:srgbClr val="0A1628"/>
                </a:solidFill>
                <a:latin typeface="Calibri"/>
              </a:defRPr>
            </a:pPr>
            <a:r>
              <a:t>Index inversé : révolution technique</a:t>
            </a:r>
          </a:p>
          <a:p>
            <a:pPr>
              <a:spcAft>
                <a:spcPts val="600"/>
              </a:spcAft>
              <a:defRPr sz="1200">
                <a:solidFill>
                  <a:srgbClr val="0A1628"/>
                </a:solidFill>
                <a:latin typeface="Calibri"/>
              </a:defRPr>
            </a:pPr>
            <a:r>
              <a:t>Mises à jour algorithmiques majeures</a:t>
            </a:r>
          </a:p>
          <a:p>
            <a:pPr>
              <a:spcAft>
                <a:spcPts val="600"/>
              </a:spcAft>
              <a:defRPr sz="1200">
                <a:solidFill>
                  <a:srgbClr val="0A1628"/>
                </a:solidFill>
                <a:latin typeface="Calibri"/>
              </a:defRPr>
            </a:pPr>
            <a:r>
              <a:t>91% de parts de marché pour Google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371600"/>
            <a:ext cx="347472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59" y="1371600"/>
            <a:ext cx="3474720" cy="457200"/>
          </a:xfrm>
          <a:prstGeom prst="rect">
            <a:avLst/>
          </a:prstGeom>
          <a:solidFill>
            <a:srgbClr val="00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1999" y="14173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A1628"/>
                </a:solidFill>
                <a:latin typeface="Calibri"/>
              </a:defRPr>
            </a:pPr>
            <a:r>
              <a:t>Fonctionnement technique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19" y="1874520"/>
            <a:ext cx="32004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A1628"/>
                </a:solidFill>
                <a:latin typeface="Calibri"/>
              </a:defRPr>
            </a:pPr>
            <a:r>
              <a:t>3 étapes : Crawling → Indexation → Ranking</a:t>
            </a:r>
          </a:p>
          <a:p>
            <a:pPr>
              <a:spcAft>
                <a:spcPts val="600"/>
              </a:spcAft>
              <a:defRPr sz="1200">
                <a:solidFill>
                  <a:srgbClr val="0A1628"/>
                </a:solidFill>
                <a:latin typeface="Calibri"/>
              </a:defRPr>
            </a:pPr>
            <a:r>
              <a:t>Googlebot explore le web via des liens</a:t>
            </a:r>
          </a:p>
          <a:p>
            <a:pPr>
              <a:spcAft>
                <a:spcPts val="600"/>
              </a:spcAft>
              <a:defRPr sz="1200">
                <a:solidFill>
                  <a:srgbClr val="0A1628"/>
                </a:solidFill>
                <a:latin typeface="Calibri"/>
              </a:defRPr>
            </a:pPr>
            <a:r>
              <a:t>L'index inversé associe mot-clé → documents</a:t>
            </a:r>
          </a:p>
          <a:p>
            <a:pPr>
              <a:spcAft>
                <a:spcPts val="600"/>
              </a:spcAft>
              <a:defRPr sz="1200">
                <a:solidFill>
                  <a:srgbClr val="0A1628"/>
                </a:solidFill>
                <a:latin typeface="Calibri"/>
              </a:defRPr>
            </a:pPr>
            <a:r>
              <a:t>Le PageRank mesure l'autorité par les liens</a:t>
            </a:r>
          </a:p>
          <a:p>
            <a:pPr>
              <a:spcAft>
                <a:spcPts val="600"/>
              </a:spcAft>
              <a:defRPr sz="1200">
                <a:solidFill>
                  <a:srgbClr val="0A1628"/>
                </a:solidFill>
                <a:latin typeface="Calibri"/>
              </a:defRPr>
            </a:pPr>
            <a:r>
              <a:t>Centaines de critères de classement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371600"/>
            <a:ext cx="347472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371600"/>
            <a:ext cx="3474720" cy="4572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4173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A1628"/>
                </a:solidFill>
                <a:latin typeface="Calibri"/>
              </a:defRPr>
            </a:pPr>
            <a:r>
              <a:t>IA dans les moteurs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1874520"/>
            <a:ext cx="32004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A1628"/>
                </a:solidFill>
                <a:latin typeface="Calibri"/>
              </a:defRPr>
            </a:pPr>
            <a:r>
              <a:t>RankBrain (2015) : apprentissage automatique</a:t>
            </a:r>
          </a:p>
          <a:p>
            <a:pPr>
              <a:spcAft>
                <a:spcPts val="600"/>
              </a:spcAft>
              <a:defRPr sz="1200">
                <a:solidFill>
                  <a:srgbClr val="0A1628"/>
                </a:solidFill>
                <a:latin typeface="Calibri"/>
              </a:defRPr>
            </a:pPr>
            <a:r>
              <a:t>BERT (2019) : compréhension du langage</a:t>
            </a:r>
          </a:p>
          <a:p>
            <a:pPr>
              <a:spcAft>
                <a:spcPts val="600"/>
              </a:spcAft>
              <a:defRPr sz="1200">
                <a:solidFill>
                  <a:srgbClr val="0A1628"/>
                </a:solidFill>
                <a:latin typeface="Calibri"/>
              </a:defRPr>
            </a:pPr>
            <a:r>
              <a:t>MUM (2021) : modèle multimodal</a:t>
            </a:r>
          </a:p>
          <a:p>
            <a:pPr>
              <a:spcAft>
                <a:spcPts val="600"/>
              </a:spcAft>
              <a:defRPr sz="1200">
                <a:solidFill>
                  <a:srgbClr val="0A1628"/>
                </a:solidFill>
                <a:latin typeface="Calibri"/>
              </a:defRPr>
            </a:pPr>
            <a:r>
              <a:t>Compréhension sémantique des requêtes</a:t>
            </a:r>
          </a:p>
          <a:p>
            <a:pPr>
              <a:spcAft>
                <a:spcPts val="600"/>
              </a:spcAft>
              <a:defRPr sz="1200">
                <a:solidFill>
                  <a:srgbClr val="0A1628"/>
                </a:solidFill>
                <a:latin typeface="Calibri"/>
              </a:defRPr>
            </a:pPr>
            <a:r>
              <a:t>Traitement du langage naturel avancé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82880"/>
            <a:ext cx="2743200" cy="381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Partie II — L'Indexation, pilier technique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7472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474720" cy="4572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A1628"/>
                </a:solidFill>
                <a:latin typeface="Calibri"/>
              </a:defRPr>
            </a:pPr>
            <a:r>
              <a:t>Pipeline d'indexation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74520"/>
            <a:ext cx="320040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A1628"/>
                </a:solidFill>
                <a:latin typeface="Calibri"/>
              </a:defRPr>
            </a:pPr>
            <a:r>
              <a:t>Analyse → Extraction → Stockage → Mise à jour</a:t>
            </a:r>
          </a:p>
          <a:p>
            <a:pPr>
              <a:spcAft>
                <a:spcPts val="600"/>
              </a:spcAft>
              <a:defRPr sz="1200">
                <a:solidFill>
                  <a:srgbClr val="0A1628"/>
                </a:solidFill>
                <a:latin typeface="Calibri"/>
              </a:defRPr>
            </a:pPr>
            <a:r>
              <a:t>Vérification via Google Search Console</a:t>
            </a:r>
          </a:p>
          <a:p>
            <a:pPr>
              <a:spcAft>
                <a:spcPts val="600"/>
              </a:spcAft>
              <a:defRPr sz="1200">
                <a:solidFill>
                  <a:srgbClr val="0A1628"/>
                </a:solidFill>
                <a:latin typeface="Calibri"/>
              </a:defRPr>
            </a:pPr>
            <a:r>
              <a:t>Problèmes : erreurs de crawl, soft 404, pages orphelines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371600"/>
            <a:ext cx="347472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59" y="1371600"/>
            <a:ext cx="3474720" cy="4572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1999" y="14173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A1628"/>
                </a:solidFill>
                <a:latin typeface="Calibri"/>
              </a:defRPr>
            </a:pPr>
            <a:r>
              <a:t>Contrôle du crawling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19" y="1874520"/>
            <a:ext cx="320040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A1628"/>
                </a:solidFill>
                <a:latin typeface="Calibri"/>
              </a:defRPr>
            </a:pPr>
            <a:r>
              <a:t>robots.txt : directives pour Googlebot</a:t>
            </a:r>
          </a:p>
          <a:p>
            <a:pPr>
              <a:spcAft>
                <a:spcPts val="600"/>
              </a:spcAft>
              <a:defRPr sz="1200">
                <a:solidFill>
                  <a:srgbClr val="0A1628"/>
                </a:solidFill>
                <a:latin typeface="Calibri"/>
              </a:defRPr>
            </a:pPr>
            <a:r>
              <a:t>Sitemap XML : guide vers les pages importantes</a:t>
            </a:r>
          </a:p>
          <a:p>
            <a:pPr>
              <a:spcAft>
                <a:spcPts val="600"/>
              </a:spcAft>
              <a:defRPr sz="1200">
                <a:solidFill>
                  <a:srgbClr val="0A1628"/>
                </a:solidFill>
                <a:latin typeface="Calibri"/>
              </a:defRPr>
            </a:pPr>
            <a:r>
              <a:t>Balises meta robots : noindex, nofollow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371600"/>
            <a:ext cx="347472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371600"/>
            <a:ext cx="3474720" cy="4572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4173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A1628"/>
                </a:solidFill>
                <a:latin typeface="Calibri"/>
              </a:defRPr>
            </a:pPr>
            <a:r>
              <a:t>Budget de crawl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1874520"/>
            <a:ext cx="320040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A1628"/>
                </a:solidFill>
                <a:latin typeface="Calibri"/>
              </a:defRPr>
            </a:pPr>
            <a:r>
              <a:t>Pages explorées par période</a:t>
            </a:r>
          </a:p>
          <a:p>
            <a:pPr>
              <a:spcAft>
                <a:spcPts val="600"/>
              </a:spcAft>
              <a:defRPr sz="1200">
                <a:solidFill>
                  <a:srgbClr val="0A1628"/>
                </a:solidFill>
                <a:latin typeface="Calibri"/>
              </a:defRPr>
            </a:pPr>
            <a:r>
              <a:t>Facteurs : qualité, popularité, taille du site</a:t>
            </a:r>
          </a:p>
          <a:p>
            <a:pPr>
              <a:spcAft>
                <a:spcPts val="600"/>
              </a:spcAft>
              <a:defRPr sz="1200">
                <a:solidFill>
                  <a:srgbClr val="0A1628"/>
                </a:solidFill>
                <a:latin typeface="Calibri"/>
              </a:defRPr>
            </a:pPr>
            <a:r>
              <a:t>Optimisation : supprimer le contenu faible valeur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76072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BBC04"/>
                </a:solidFill>
                <a:latin typeface="Calibri"/>
              </a:defRPr>
            </a:pPr>
            <a:r>
              <a:t>💡 Conseil : Utilisez le rapport de couverture GSC pour diagnostiquer vos problèmes d'indexation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82880"/>
            <a:ext cx="2743200" cy="381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Partie III — SEO On-Page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2286000"/>
          </a:xfrm>
          <a:prstGeom prst="roundRect">
            <a:avLst/>
          </a:prstGeom>
          <a:solidFill>
            <a:srgbClr val="0D2347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087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4A853"/>
                </a:solidFill>
                <a:latin typeface="Calibri"/>
              </a:defRPr>
            </a:pPr>
            <a:r>
              <a:t>Recherche de mots-clés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8"/>
                </a:solidFill>
                <a:latin typeface="Calibri"/>
              </a:defRPr>
            </a:pPr>
            <a:r>
              <a:t>Fondation de toute stratégie SEO</a:t>
            </a:r>
            <a:br/>
            <a:r>
              <a:t>Tête de réseau, corps, longue traîne</a:t>
            </a:r>
            <a:br/>
            <a:r>
              <a:t>Outils : SEMrush, Ahrefs, KW Finder</a:t>
            </a:r>
            <a:br/>
            <a:r>
              <a:t>Volume, difficulté, CPC comme métriques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303520" cy="2286000"/>
          </a:xfrm>
          <a:prstGeom prst="roundRect">
            <a:avLst/>
          </a:prstGeom>
          <a:solidFill>
            <a:srgbClr val="0D2347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5087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4A853"/>
                </a:solidFill>
                <a:latin typeface="Calibri"/>
              </a:defRPr>
            </a:pPr>
            <a:r>
              <a:t>Intention de recherche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87452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8"/>
                </a:solidFill>
                <a:latin typeface="Calibri"/>
              </a:defRPr>
            </a:pPr>
            <a:r>
              <a:t>4 types : Informationnelle, Navigationnelle</a:t>
            </a:r>
            <a:br/>
            <a:r>
              <a:t>Commerciale, Transactionnelle</a:t>
            </a:r>
            <a:br/>
            <a:r>
              <a:t>Le contenu doit correspondre à l'intention</a:t>
            </a:r>
            <a:br/>
            <a:r>
              <a:t>Cartographie du parcours utilisateur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303520" cy="2286000"/>
          </a:xfrm>
          <a:prstGeom prst="roundRect">
            <a:avLst/>
          </a:prstGeom>
          <a:solidFill>
            <a:srgbClr val="0D2347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069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4A853"/>
                </a:solidFill>
                <a:latin typeface="Calibri"/>
              </a:defRPr>
            </a:pPr>
            <a:r>
              <a:t>Balises HTML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3484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8"/>
                </a:solidFill>
                <a:latin typeface="Calibri"/>
              </a:defRPr>
            </a:pPr>
            <a:r>
              <a:t>Title tag : 2e facteur On-Page le + important</a:t>
            </a:r>
            <a:br/>
            <a:r>
              <a:t>Meta description : influence le CTR</a:t>
            </a:r>
            <a:br/>
            <a:r>
              <a:t>Hiérarchie H1-H6 : structure du contenu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931920"/>
            <a:ext cx="5303520" cy="2286000"/>
          </a:xfrm>
          <a:prstGeom prst="roundRect">
            <a:avLst/>
          </a:prstGeom>
          <a:solidFill>
            <a:srgbClr val="0D2347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4069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4A853"/>
                </a:solidFill>
                <a:latin typeface="Calibri"/>
              </a:defRPr>
            </a:pPr>
            <a:r>
              <a:t>Images &amp; maillage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43484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8"/>
                </a:solidFill>
                <a:latin typeface="Calibri"/>
              </a:defRPr>
            </a:pPr>
            <a:r>
              <a:t>Alt text : accessibilité + SEO</a:t>
            </a:r>
            <a:br/>
            <a:r>
              <a:t>Formats modernes : WebP, AVIF</a:t>
            </a:r>
            <a:br/>
            <a:r>
              <a:t>Topical clusters : pilier + articles satellites</a:t>
            </a:r>
            <a:br/>
            <a:r>
              <a:t>Maillage interne : distribue l'autorité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82880"/>
            <a:ext cx="2743200" cy="381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Partie IV — SEO Technique Avancé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1097280"/>
          </a:xfrm>
          <a:prstGeom prst="roundRect">
            <a:avLst/>
          </a:prstGeom>
          <a:solidFill>
            <a:srgbClr val="0D2347"/>
          </a:solidFill>
          <a:ln w="2540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371600" cy="1097280"/>
          </a:xfrm>
          <a:prstGeom prst="round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Core</a:t>
            </a:r>
            <a:br/>
            <a:r>
              <a:t>Web</a:t>
            </a:r>
            <a:br/>
            <a:r>
              <a:t>Vitals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A853"/>
                </a:solidFill>
                <a:latin typeface="Calibri"/>
              </a:defRPr>
            </a:pPr>
            <a:r>
              <a:t>LCP  &lt; 2,5s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828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Largest Contentful Paint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C04"/>
                </a:solidFill>
                <a:latin typeface="Calibri"/>
              </a:defRPr>
            </a:pPr>
            <a:r>
              <a:t>INP  &lt; 200ms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828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Interaction to Next Paint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285F4"/>
                </a:solidFill>
                <a:latin typeface="Calibri"/>
              </a:defRPr>
            </a:pPr>
            <a:r>
              <a:t>CLS  &lt; 0,1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828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Cumulative Layout Shift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743200"/>
            <a:ext cx="5303520" cy="1645920"/>
          </a:xfrm>
          <a:prstGeom prst="roundRect">
            <a:avLst/>
          </a:prstGeom>
          <a:solidFill>
            <a:srgbClr val="0D2347"/>
          </a:solidFill>
          <a:ln w="1270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8346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4335"/>
                </a:solidFill>
                <a:latin typeface="Calibri"/>
              </a:defRPr>
            </a:pPr>
            <a:r>
              <a:t>Performance web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20040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CDN, HTTP/2/3, caching</a:t>
            </a:r>
            <a:br/>
            <a:r>
              <a:t>Optimisation images (WebP, AVIF)</a:t>
            </a:r>
            <a:br/>
            <a:r>
              <a:t>Code splitting, tree shaking</a:t>
            </a:r>
            <a:br/>
            <a:r>
              <a:t>Critical CSS, lazy loading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743200"/>
            <a:ext cx="5303520" cy="1645920"/>
          </a:xfrm>
          <a:prstGeom prst="roundRect">
            <a:avLst/>
          </a:prstGeom>
          <a:solidFill>
            <a:srgbClr val="0D2347"/>
          </a:solidFill>
          <a:ln w="1270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8346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4335"/>
                </a:solidFill>
                <a:latin typeface="Calibri"/>
              </a:defRPr>
            </a:pPr>
            <a:r>
              <a:t>Mobile-First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20040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Google utilise la version mobile</a:t>
            </a:r>
            <a:br/>
            <a:r>
              <a:t>Design responsive obligatoire</a:t>
            </a:r>
            <a:br/>
            <a:r>
              <a:t>Performances mobiles essentielles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572000"/>
            <a:ext cx="5303520" cy="1645920"/>
          </a:xfrm>
          <a:prstGeom prst="roundRect">
            <a:avLst/>
          </a:prstGeom>
          <a:solidFill>
            <a:srgbClr val="0D2347"/>
          </a:solidFill>
          <a:ln w="1270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6634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4335"/>
                </a:solidFill>
                <a:latin typeface="Calibri"/>
              </a:defRPr>
            </a:pPr>
            <a:r>
              <a:t>Schema Markup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02920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Schema.org, JSON-LD</a:t>
            </a:r>
            <a:br/>
            <a:r>
              <a:t>Rich snippets</a:t>
            </a:r>
            <a:br/>
            <a:r>
              <a:t>Types : Article, FAQ, Product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4572000"/>
            <a:ext cx="5303520" cy="1645920"/>
          </a:xfrm>
          <a:prstGeom prst="roundRect">
            <a:avLst/>
          </a:prstGeom>
          <a:solidFill>
            <a:srgbClr val="0D2347"/>
          </a:solidFill>
          <a:ln w="1270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46634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4335"/>
                </a:solidFill>
                <a:latin typeface="Calibri"/>
              </a:defRPr>
            </a:pPr>
            <a:r>
              <a:t>JavaScript SEO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502920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Défis : rendu JS, indexation</a:t>
            </a:r>
            <a:br/>
            <a:r>
              <a:t>SSR, SSG, hydration</a:t>
            </a:r>
            <a:br/>
            <a:r>
              <a:t>Test dans Google Search Console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82880"/>
            <a:ext cx="2743200" cy="381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Partie V — SEO Off-Page et Autorité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74720" cy="457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474720" cy="4572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A1628"/>
                </a:solidFill>
                <a:latin typeface="Calibri"/>
              </a:defRPr>
            </a:pPr>
            <a:r>
              <a:t>Netlinking &amp; Backlinks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74520"/>
            <a:ext cx="320040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A1628"/>
                </a:solidFill>
                <a:latin typeface="Calibri"/>
              </a:defRPr>
            </a:pPr>
            <a:r>
              <a:t>Facteur de classement majeur</a:t>
            </a:r>
          </a:p>
          <a:p>
            <a:pPr>
              <a:spcAft>
                <a:spcPts val="600"/>
              </a:spcAft>
              <a:defRPr sz="1200">
                <a:solidFill>
                  <a:srgbClr val="0A1628"/>
                </a:solidFill>
                <a:latin typeface="Calibri"/>
              </a:defRPr>
            </a:pPr>
            <a:r>
              <a:t>Dofollow : transmet l'autorité</a:t>
            </a:r>
          </a:p>
          <a:p>
            <a:pPr>
              <a:spcAft>
                <a:spcPts val="600"/>
              </a:spcAft>
              <a:defRPr sz="1200">
                <a:solidFill>
                  <a:srgbClr val="0A1628"/>
                </a:solidFill>
                <a:latin typeface="Calibri"/>
              </a:defRPr>
            </a:pPr>
            <a:r>
              <a:t>Nofollow : ne transmet pas</a:t>
            </a:r>
          </a:p>
          <a:p>
            <a:pPr>
              <a:spcAft>
                <a:spcPts val="600"/>
              </a:spcAft>
              <a:defRPr sz="1200">
                <a:solidFill>
                  <a:srgbClr val="0A1628"/>
                </a:solidFill>
                <a:latin typeface="Calibri"/>
              </a:defRPr>
            </a:pPr>
            <a:r>
              <a:t>Qualité &gt; Quantité</a:t>
            </a:r>
          </a:p>
          <a:p>
            <a:pPr>
              <a:spcAft>
                <a:spcPts val="600"/>
              </a:spcAft>
              <a:defRPr sz="1200">
                <a:solidFill>
                  <a:srgbClr val="0A1628"/>
                </a:solidFill>
                <a:latin typeface="Calibri"/>
              </a:defRPr>
            </a:pPr>
            <a:r>
              <a:t>Profil de liens naturel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371600"/>
            <a:ext cx="3474720" cy="457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59" y="1371600"/>
            <a:ext cx="3474720" cy="4572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1999" y="14173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A1628"/>
                </a:solidFill>
                <a:latin typeface="Calibri"/>
              </a:defRPr>
            </a:pPr>
            <a:r>
              <a:t>Link Building avancé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19" y="1874520"/>
            <a:ext cx="320040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A1628"/>
                </a:solidFill>
                <a:latin typeface="Calibri"/>
              </a:defRPr>
            </a:pPr>
            <a:r>
              <a:t>Digital PR : relations presse</a:t>
            </a:r>
          </a:p>
          <a:p>
            <a:pPr>
              <a:spcAft>
                <a:spcPts val="600"/>
              </a:spcAft>
              <a:defRPr sz="1200">
                <a:solidFill>
                  <a:srgbClr val="0A1628"/>
                </a:solidFill>
                <a:latin typeface="Calibri"/>
              </a:defRPr>
            </a:pPr>
            <a:r>
              <a:t>Linkable assets : contenu magnétique</a:t>
            </a:r>
          </a:p>
          <a:p>
            <a:pPr>
              <a:spcAft>
                <a:spcPts val="600"/>
              </a:spcAft>
              <a:defRPr sz="1200">
                <a:solidFill>
                  <a:srgbClr val="0A1628"/>
                </a:solidFill>
                <a:latin typeface="Calibri"/>
              </a:defRPr>
            </a:pPr>
            <a:r>
              <a:t>Broken link building</a:t>
            </a:r>
          </a:p>
          <a:p>
            <a:pPr>
              <a:spcAft>
                <a:spcPts val="600"/>
              </a:spcAft>
              <a:defRPr sz="1200">
                <a:solidFill>
                  <a:srgbClr val="0A1628"/>
                </a:solidFill>
                <a:latin typeface="Calibri"/>
              </a:defRPr>
            </a:pPr>
            <a:r>
              <a:t>Guest blogging ciblé</a:t>
            </a:r>
          </a:p>
          <a:p>
            <a:pPr>
              <a:spcAft>
                <a:spcPts val="600"/>
              </a:spcAft>
              <a:defRPr sz="1200">
                <a:solidFill>
                  <a:srgbClr val="0A1628"/>
                </a:solidFill>
                <a:latin typeface="Calibri"/>
              </a:defRPr>
            </a:pPr>
            <a:r>
              <a:t>Brand mentions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371600"/>
            <a:ext cx="3474720" cy="457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371600"/>
            <a:ext cx="3474720" cy="4572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4173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A1628"/>
                </a:solidFill>
                <a:latin typeface="Calibri"/>
              </a:defRPr>
            </a:pPr>
            <a:r>
              <a:t>E-E-A-T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1874520"/>
            <a:ext cx="320040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A1628"/>
                </a:solidFill>
                <a:latin typeface="Calibri"/>
              </a:defRPr>
            </a:pPr>
            <a:r>
              <a:t>Expérience, Expertise, Autorité, Confiance</a:t>
            </a:r>
          </a:p>
          <a:p>
            <a:pPr>
              <a:spcAft>
                <a:spcPts val="600"/>
              </a:spcAft>
              <a:defRPr sz="1200">
                <a:solidFill>
                  <a:srgbClr val="0A1628"/>
                </a:solidFill>
                <a:latin typeface="Calibri"/>
              </a:defRPr>
            </a:pPr>
            <a:r>
              <a:t>Cadre d'évaluation qualité Google</a:t>
            </a:r>
          </a:p>
          <a:p>
            <a:pPr>
              <a:spcAft>
                <a:spcPts val="600"/>
              </a:spcAft>
              <a:defRPr sz="1200">
                <a:solidFill>
                  <a:srgbClr val="0A1628"/>
                </a:solidFill>
                <a:latin typeface="Calibri"/>
              </a:defRPr>
            </a:pPr>
            <a:r>
              <a:t>YMYL : sites à impact fort</a:t>
            </a:r>
          </a:p>
          <a:p>
            <a:pPr>
              <a:spcAft>
                <a:spcPts val="600"/>
              </a:spcAft>
              <a:defRPr sz="1200">
                <a:solidFill>
                  <a:srgbClr val="0A1628"/>
                </a:solidFill>
                <a:latin typeface="Calibri"/>
              </a:defRPr>
            </a:pPr>
            <a:r>
              <a:t>Auteurs identifiés et qualifiés</a:t>
            </a:r>
          </a:p>
          <a:p>
            <a:pPr>
              <a:spcAft>
                <a:spcPts val="600"/>
              </a:spcAft>
              <a:defRPr sz="1200">
                <a:solidFill>
                  <a:srgbClr val="0A1628"/>
                </a:solidFill>
                <a:latin typeface="Calibri"/>
              </a:defRPr>
            </a:pPr>
            <a:r>
              <a:t>Transparence et fiabilité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82880"/>
            <a:ext cx="2743200" cy="381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Partie VI — SEO Spécialisé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74720" cy="2286000"/>
          </a:xfrm>
          <a:prstGeom prst="roundRect">
            <a:avLst/>
          </a:prstGeom>
          <a:solidFill>
            <a:srgbClr val="0D2347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A500"/>
                </a:solidFill>
                <a:latin typeface="Calibri"/>
              </a:defRPr>
            </a:pPr>
            <a:r>
              <a:t>SEO Local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Google Business Profile</a:t>
            </a:r>
            <a:br/>
            <a:r>
              <a:t>Citations NAP, annuaires</a:t>
            </a:r>
            <a:br/>
            <a:r>
              <a:t>Avis clients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1371600"/>
            <a:ext cx="3474720" cy="2286000"/>
          </a:xfrm>
          <a:prstGeom prst="roundRect">
            <a:avLst/>
          </a:prstGeom>
          <a:solidFill>
            <a:srgbClr val="0D2347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39" y="1508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A500"/>
                </a:solidFill>
                <a:latin typeface="Calibri"/>
              </a:defRPr>
            </a:pPr>
            <a:r>
              <a:t>Migration SEO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39" y="18745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301 vs 302, mapping URL</a:t>
            </a:r>
            <a:br/>
            <a:r>
              <a:t>Checklist pré-migration</a:t>
            </a:r>
            <a:br/>
            <a:r>
              <a:t>Suivi post-migration (3 mois)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371600"/>
            <a:ext cx="3474720" cy="2286000"/>
          </a:xfrm>
          <a:prstGeom prst="roundRect">
            <a:avLst/>
          </a:prstGeom>
          <a:solidFill>
            <a:srgbClr val="0D2347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508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A500"/>
                </a:solidFill>
                <a:latin typeface="Calibri"/>
              </a:defRPr>
            </a:pPr>
            <a:r>
              <a:t>E-commerce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8745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Architecture optimale</a:t>
            </a:r>
            <a:br/>
            <a:r>
              <a:t>Contenu dupliqué</a:t>
            </a:r>
            <a:br/>
            <a:r>
              <a:t>Fiches produits uniques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3474720" cy="2286000"/>
          </a:xfrm>
          <a:prstGeom prst="roundRect">
            <a:avLst/>
          </a:prstGeom>
          <a:solidFill>
            <a:srgbClr val="0D2347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69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A500"/>
                </a:solidFill>
                <a:latin typeface="Calibri"/>
              </a:defRPr>
            </a:pPr>
            <a:r>
              <a:t>CMS populaires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3484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WordPress, Shopify, Webflow</a:t>
            </a:r>
            <a:br/>
            <a:r>
              <a:t>Plugins SEO (Rank Math, Yoast)</a:t>
            </a:r>
            <a:br/>
            <a:r>
              <a:t>Performance par CMS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59" y="3931920"/>
            <a:ext cx="3474720" cy="2286000"/>
          </a:xfrm>
          <a:prstGeom prst="roundRect">
            <a:avLst/>
          </a:prstGeom>
          <a:solidFill>
            <a:srgbClr val="0D2347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39" y="4069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A500"/>
                </a:solidFill>
                <a:latin typeface="Calibri"/>
              </a:defRPr>
            </a:pPr>
            <a:r>
              <a:t>Vidéo &amp; Vocal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39" y="443484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YouTube = 2e moteur mondial</a:t>
            </a:r>
            <a:br/>
            <a:r>
              <a:t>Featured snippets pour vocal</a:t>
            </a:r>
            <a:br/>
            <a:r>
              <a:t>Données structurées vidéo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3931920"/>
            <a:ext cx="3474720" cy="2286000"/>
          </a:xfrm>
          <a:prstGeom prst="roundRect">
            <a:avLst/>
          </a:prstGeom>
          <a:solidFill>
            <a:srgbClr val="0D2347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4069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A500"/>
                </a:solidFill>
                <a:latin typeface="Calibri"/>
              </a:defRPr>
            </a:pPr>
            <a:r>
              <a:t>A/B Testing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43484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Split testing SEO</a:t>
            </a:r>
            <a:br/>
            <a:r>
              <a:t>Signification statistique</a:t>
            </a:r>
            <a:br/>
            <a:r>
              <a:t>Priorité : titles, schema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82880"/>
            <a:ext cx="2743200" cy="38100"/>
          </a:xfrm>
          <a:prstGeom prst="rect">
            <a:avLst/>
          </a:prstGeom>
          <a:solidFill>
            <a:srgbClr val="00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Parties VII &amp; VIII — Mesure, Stratégie et Tendances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A853"/>
                </a:solidFill>
                <a:latin typeface="Calibri"/>
              </a:defRPr>
            </a:pPr>
            <a:r>
              <a:t>📊 Mesure et Analyse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0C4D8"/>
                </a:solidFill>
                <a:latin typeface="Calibri"/>
              </a:defRPr>
            </a:pPr>
            <a:r>
              <a:t>Google Search Console : indexation, performances, erreurs</a:t>
            </a:r>
          </a:p>
          <a:p>
            <a:pPr>
              <a:spcAft>
                <a:spcPts val="600"/>
              </a:spcAft>
              <a:defRPr sz="1300">
                <a:solidFill>
                  <a:srgbClr val="B0C4D8"/>
                </a:solidFill>
                <a:latin typeface="Calibri"/>
              </a:defRPr>
            </a:pPr>
            <a:r>
              <a:t>Google Analytics 4 : trafic, comportement, conversions</a:t>
            </a:r>
          </a:p>
          <a:p>
            <a:pPr>
              <a:spcAft>
                <a:spcPts val="600"/>
              </a:spcAft>
              <a:defRPr sz="1300">
                <a:solidFill>
                  <a:srgbClr val="B0C4D8"/>
                </a:solidFill>
                <a:latin typeface="Calibri"/>
              </a:defRPr>
            </a:pPr>
            <a:r>
              <a:t>KPIs SEO : trafic organique, positions, CTR, taux d'indexation</a:t>
            </a:r>
          </a:p>
          <a:p>
            <a:pPr>
              <a:spcAft>
                <a:spcPts val="600"/>
              </a:spcAft>
              <a:defRPr sz="1300">
                <a:solidFill>
                  <a:srgbClr val="B0C4D8"/>
                </a:solidFill>
                <a:latin typeface="Calibri"/>
              </a:defRPr>
            </a:pPr>
            <a:r>
              <a:t>Tableau de bord SEO adapté aux objectifs business</a:t>
            </a:r>
          </a:p>
          <a:p>
            <a:pPr>
              <a:spcAft>
                <a:spcPts val="600"/>
              </a:spcAft>
              <a:defRPr sz="1300">
                <a:solidFill>
                  <a:srgbClr val="B0C4D8"/>
                </a:solidFill>
                <a:latin typeface="Calibri"/>
              </a:defRPr>
            </a:pPr>
            <a:r>
              <a:t>Reporting régulier pour ajuster la stratégie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A0FF"/>
                </a:solidFill>
                <a:latin typeface="Calibri"/>
              </a:defRPr>
            </a:pPr>
            <a:r>
              <a:t>🎯 Stratégie et Tendances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0C4D8"/>
                </a:solidFill>
                <a:latin typeface="Calibri"/>
              </a:defRPr>
            </a:pPr>
            <a:r>
              <a:t>Audit SEO complet : technique, On-Page, Off-Page</a:t>
            </a:r>
          </a:p>
          <a:p>
            <a:pPr>
              <a:spcAft>
                <a:spcPts val="600"/>
              </a:spcAft>
              <a:defRPr sz="1300">
                <a:solidFill>
                  <a:srgbClr val="B0C4D8"/>
                </a:solidFill>
                <a:latin typeface="Calibri"/>
              </a:defRPr>
            </a:pPr>
            <a:r>
              <a:t>Plan d'action priorisé par impact et effort</a:t>
            </a:r>
          </a:p>
          <a:p>
            <a:pPr>
              <a:spcAft>
                <a:spcPts val="600"/>
              </a:spcAft>
              <a:defRPr sz="1300">
                <a:solidFill>
                  <a:srgbClr val="B0C4D8"/>
                </a:solidFill>
                <a:latin typeface="Calibri"/>
              </a:defRPr>
            </a:pPr>
            <a:r>
              <a:t>SEO et IA : Google SGE, Search Generative Experience</a:t>
            </a:r>
          </a:p>
          <a:p>
            <a:pPr>
              <a:spcAft>
                <a:spcPts val="600"/>
              </a:spcAft>
              <a:defRPr sz="1300">
                <a:solidFill>
                  <a:srgbClr val="B0C4D8"/>
                </a:solidFill>
                <a:latin typeface="Calibri"/>
              </a:defRPr>
            </a:pPr>
            <a:r>
              <a:t>Tendances : zero-click, Search Everywhere Optimization</a:t>
            </a:r>
          </a:p>
          <a:p>
            <a:pPr>
              <a:spcAft>
                <a:spcPts val="600"/>
              </a:spcAft>
              <a:defRPr sz="1300">
                <a:solidFill>
                  <a:srgbClr val="B0C4D8"/>
                </a:solidFill>
                <a:latin typeface="Calibri"/>
              </a:defRPr>
            </a:pPr>
            <a:r>
              <a:t>Prévisions 2026-2030 : Web3, SEO décentralisé</a:t>
            </a:r>
          </a:p>
          <a:p>
            <a:pPr>
              <a:spcAft>
                <a:spcPts val="600"/>
              </a:spcAft>
              <a:defRPr sz="1300">
                <a:solidFill>
                  <a:srgbClr val="B0C4D8"/>
                </a:solidFill>
                <a:latin typeface="Calibri"/>
              </a:defRPr>
            </a:pPr>
            <a:r>
              <a:t>L'adaptation aux nouvelles technologies = clé de la pérennité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371600"/>
            <a:ext cx="38100" cy="38100"/>
          </a:xfrm>
          <a:prstGeom prst="rect">
            <a:avLst/>
          </a:prstGeom>
          <a:solidFill>
            <a:srgbClr val="B0C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BBC04"/>
                </a:solidFill>
                <a:latin typeface="Calibri"/>
              </a:defRPr>
            </a:pPr>
            <a:r>
              <a:t>📋 4 études de cas incluses : Migration site • E-commerce CWV • Stratégie contenu • Expansion internationale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82880"/>
            <a:ext cx="2743200" cy="381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Structure pédagogique du manuel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74720" cy="2011680"/>
          </a:xfrm>
          <a:prstGeom prst="roundRect">
            <a:avLst/>
          </a:prstGeom>
          <a:solidFill>
            <a:srgbClr val="0D2347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A853"/>
                </a:solidFill>
                <a:latin typeface="Calibri"/>
              </a:defRPr>
            </a:pPr>
            <a:r>
              <a:t>🎯  38 objectifs pédagogiques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Un par chapitre, 3 objectifs mesurables chacun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1371600"/>
            <a:ext cx="3474720" cy="2011680"/>
          </a:xfrm>
          <a:prstGeom prst="roundRect">
            <a:avLst/>
          </a:prstGeom>
          <a:solidFill>
            <a:srgbClr val="0D2347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39" y="14630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A853"/>
                </a:solidFill>
                <a:latin typeface="Calibri"/>
              </a:defRPr>
            </a:pPr>
            <a:r>
              <a:t>📌  37 synthèses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39" y="20116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Points à retenir en fin de chaque chapitre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371600"/>
            <a:ext cx="3474720" cy="2011680"/>
          </a:xfrm>
          <a:prstGeom prst="roundRect">
            <a:avLst/>
          </a:prstGeom>
          <a:solidFill>
            <a:srgbClr val="0D2347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4630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A853"/>
                </a:solidFill>
                <a:latin typeface="Calibri"/>
              </a:defRPr>
            </a:pPr>
            <a:r>
              <a:t>✏️  4 exercices pratiques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0116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Indexation, mots-clés, Core Web Vitals, audit complet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57600"/>
            <a:ext cx="3474720" cy="2011680"/>
          </a:xfrm>
          <a:prstGeom prst="roundRect">
            <a:avLst/>
          </a:prstGeom>
          <a:solidFill>
            <a:srgbClr val="0D2347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490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A853"/>
                </a:solidFill>
                <a:latin typeface="Calibri"/>
              </a:defRPr>
            </a:pPr>
            <a:r>
              <a:t>📖  Glossaire complet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976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Définitions de tous les termes techniques SEO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59" y="3657600"/>
            <a:ext cx="3474720" cy="2011680"/>
          </a:xfrm>
          <a:prstGeom prst="roundRect">
            <a:avLst/>
          </a:prstGeom>
          <a:solidFill>
            <a:srgbClr val="0D2347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39" y="37490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A853"/>
                </a:solidFill>
                <a:latin typeface="Calibri"/>
              </a:defRPr>
            </a:pPr>
            <a:r>
              <a:t>📋  3 annexes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39" y="42976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Checklist technique, guide des outils, ressources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3657600"/>
            <a:ext cx="3474720" cy="2011680"/>
          </a:xfrm>
          <a:prstGeom prst="roundRect">
            <a:avLst/>
          </a:prstGeom>
          <a:solidFill>
            <a:srgbClr val="0D2347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37490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A853"/>
                </a:solidFill>
                <a:latin typeface="Calibri"/>
              </a:defRPr>
            </a:pPr>
            <a:r>
              <a:t>📚  Bibliographie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2976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Sources officielles, blogs, livres de référence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82880"/>
            <a:ext cx="2743200" cy="381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Annexes et ressources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1371600"/>
          </a:xfrm>
          <a:prstGeom prst="roundRect">
            <a:avLst/>
          </a:prstGeom>
          <a:solidFill>
            <a:srgbClr val="0D2347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B59B6"/>
                </a:solidFill>
                <a:latin typeface="Calibri"/>
              </a:defRPr>
            </a:pPr>
            <a:r>
              <a:t>Annexe A — Checklist technique SEO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• 7 catégories : crawling, architecture, performance, mobile, schema, sécurité, international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• 30+ points de vérification pour auditer un site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17520"/>
            <a:ext cx="10728655" cy="1371600"/>
          </a:xfrm>
          <a:prstGeom prst="roundRect">
            <a:avLst/>
          </a:prstGeom>
          <a:solidFill>
            <a:srgbClr val="0D2347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108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B59B6"/>
                </a:solidFill>
                <a:latin typeface="Calibri"/>
              </a:defRPr>
            </a:pPr>
            <a:r>
              <a:t>Annexe B — Guide des outils SEO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474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• 15 outils avec prix : GSC, GA4, Screaming Frog, Ahrefs, SEMrush, Majestic, Surfer SEO...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• Métriques clés à suivre : trafic, positions, CTR, indexation, backlinks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663440"/>
            <a:ext cx="10728655" cy="1371600"/>
          </a:xfrm>
          <a:prstGeom prst="roundRect">
            <a:avLst/>
          </a:prstGeom>
          <a:solidFill>
            <a:srgbClr val="0D2347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B59B6"/>
                </a:solidFill>
                <a:latin typeface="Calibri"/>
              </a:defRPr>
            </a:pPr>
            <a:r>
              <a:t>Annexe C — Ressources complémentaires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120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• Outils de veille : Google Search Status, SEOFrog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486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• Communautés : WebmasterWorld, Reddit r/SEO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852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8"/>
                </a:solidFill>
                <a:latin typeface="Calibri"/>
              </a:defRPr>
            </a:pPr>
            <a:r>
              <a:t>• Certifications : Google, Ahrefs Academy, SEMrush Academy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82880"/>
            <a:ext cx="2743200" cy="3810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Chiffres clés du manuel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1828800"/>
          </a:xfrm>
          <a:prstGeom prst="roundRect">
            <a:avLst/>
          </a:prstGeom>
          <a:solidFill>
            <a:srgbClr val="0D2347"/>
          </a:solidFill>
          <a:ln w="2540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BBC04"/>
                </a:solidFill>
                <a:latin typeface="Calibri"/>
              </a:defRPr>
            </a:pPr>
            <a:r>
              <a:t>168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C4D8"/>
                </a:solidFill>
                <a:latin typeface="Calibri"/>
              </a:defRPr>
            </a:pPr>
            <a:r>
              <a:t>pages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645920"/>
            <a:ext cx="2560320" cy="1828800"/>
          </a:xfrm>
          <a:prstGeom prst="roundRect">
            <a:avLst/>
          </a:prstGeom>
          <a:solidFill>
            <a:srgbClr val="0D2347"/>
          </a:solidFill>
          <a:ln w="2540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8288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BBC04"/>
                </a:solidFill>
                <a:latin typeface="Calibri"/>
              </a:defRPr>
            </a:pPr>
            <a:r>
              <a:t>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743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C4D8"/>
                </a:solidFill>
                <a:latin typeface="Calibri"/>
              </a:defRPr>
            </a:pPr>
            <a:r>
              <a:t>chapitres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645920"/>
            <a:ext cx="2560320" cy="1828800"/>
          </a:xfrm>
          <a:prstGeom prst="roundRect">
            <a:avLst/>
          </a:prstGeom>
          <a:solidFill>
            <a:srgbClr val="0D2347"/>
          </a:solidFill>
          <a:ln w="2540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BBC04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743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C4D8"/>
                </a:solidFill>
                <a:latin typeface="Calibri"/>
              </a:defRPr>
            </a:pPr>
            <a:r>
              <a:t>parties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1645920"/>
            <a:ext cx="2560320" cy="1828800"/>
          </a:xfrm>
          <a:prstGeom prst="roundRect">
            <a:avLst/>
          </a:prstGeom>
          <a:solidFill>
            <a:srgbClr val="0D2347"/>
          </a:solidFill>
          <a:ln w="2540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18288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BBC04"/>
                </a:solidFill>
                <a:latin typeface="Calibri"/>
              </a:defRPr>
            </a:pPr>
            <a:r>
              <a:t>37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743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C4D8"/>
                </a:solidFill>
                <a:latin typeface="Calibri"/>
              </a:defRPr>
            </a:pPr>
            <a:r>
              <a:t>synthèses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31920"/>
            <a:ext cx="2560320" cy="1828800"/>
          </a:xfrm>
          <a:prstGeom prst="roundRect">
            <a:avLst/>
          </a:prstGeom>
          <a:solidFill>
            <a:srgbClr val="0D2347"/>
          </a:solidFill>
          <a:ln w="2540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1148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BBC04"/>
                </a:solidFill>
                <a:latin typeface="Calibri"/>
              </a:defRPr>
            </a:pPr>
            <a:r>
              <a:t>38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029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C4D8"/>
                </a:solidFill>
                <a:latin typeface="Calibri"/>
              </a:defRPr>
            </a:pPr>
            <a:r>
              <a:t>objectifs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66160" y="3931920"/>
            <a:ext cx="2560320" cy="1828800"/>
          </a:xfrm>
          <a:prstGeom prst="roundRect">
            <a:avLst/>
          </a:prstGeom>
          <a:solidFill>
            <a:srgbClr val="0D2347"/>
          </a:solidFill>
          <a:ln w="2540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41148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BBC04"/>
                </a:solidFill>
                <a:latin typeface="Calibri"/>
              </a:defRPr>
            </a:pPr>
            <a:r>
              <a:t>7+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5029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C4D8"/>
                </a:solidFill>
                <a:latin typeface="Calibri"/>
              </a:defRPr>
            </a:pPr>
            <a:r>
              <a:t>schémas SVG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931920"/>
            <a:ext cx="2560320" cy="1828800"/>
          </a:xfrm>
          <a:prstGeom prst="roundRect">
            <a:avLst/>
          </a:prstGeom>
          <a:solidFill>
            <a:srgbClr val="0D2347"/>
          </a:solidFill>
          <a:ln w="2540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1148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BBC04"/>
                </a:solidFill>
                <a:latin typeface="Calibri"/>
              </a:defRPr>
            </a:pPr>
            <a:r>
              <a:t>15+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029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C4D8"/>
                </a:solidFill>
                <a:latin typeface="Calibri"/>
              </a:defRPr>
            </a:pPr>
            <a:r>
              <a:t>outils référencés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35440" y="3931920"/>
            <a:ext cx="2560320" cy="1828800"/>
          </a:xfrm>
          <a:prstGeom prst="roundRect">
            <a:avLst/>
          </a:prstGeom>
          <a:solidFill>
            <a:srgbClr val="0D2347"/>
          </a:solidFill>
          <a:ln w="2540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41148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BBC04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5029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C4D8"/>
                </a:solidFill>
                <a:latin typeface="Calibri"/>
              </a:defRPr>
            </a:pPr>
            <a:r>
              <a:t>études de cas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0"/>
          </a:xfrm>
          <a:prstGeom prst="rect">
            <a:avLst/>
          </a:prstGeom>
          <a:solidFill>
            <a:srgbClr val="0D2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4114800"/>
            <a:ext cx="8534095" cy="38100"/>
          </a:xfrm>
          <a:prstGeom prst="rect">
            <a:avLst/>
          </a:prstGeom>
          <a:solidFill>
            <a:srgbClr val="00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828800" y="27432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8800" y="82296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28800" y="137160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560320" y="27432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560320" y="82296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560320" y="137160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291840" y="27432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91840" y="82296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291840" y="137160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023360" y="27432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023360" y="82296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23360" y="137160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754880" y="27432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754880" y="82296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754880" y="137160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86400" y="27432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486400" y="82296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486400" y="137160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17920" y="27432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217920" y="82296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217920" y="137160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949440" y="27432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949440" y="82296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949440" y="137160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680960" y="27432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680960" y="82296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680960" y="137160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412480" y="27432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412480" y="82296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12480" y="137160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144000" y="27432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44000" y="82296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44000" y="137160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875520" y="27432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875520" y="82296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875520" y="137160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607040" y="27432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607040" y="82296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607040" y="1371600"/>
            <a:ext cx="25400" cy="25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13716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Merci de votre attention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DCB4"/>
                </a:solidFill>
                <a:latin typeface="Calibri"/>
              </a:defRPr>
            </a:pPr>
            <a:r>
              <a:t>Guide complet disponible sur GitHub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7548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C4D8"/>
                </a:solidFill>
                <a:latin typeface="Calibri"/>
              </a:defRPr>
            </a:pPr>
            <a:r>
              <a:t>Institut Supérieur du Numérique — SupNum, Nouakchott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" y="52120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C4D8"/>
                </a:solidFill>
                <a:latin typeface="Calibri"/>
              </a:defRPr>
            </a:pPr>
            <a:r>
              <a:t>Spécialité : Développement Web et Multimédia — Module : Indexation et Référencement Web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A0FF"/>
                </a:solidFill>
                <a:latin typeface="Calibri"/>
              </a:defRPr>
            </a:pPr>
            <a:r>
              <a:t>github.com/mohameden19961/rapport-seo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62179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C4D8"/>
                </a:solidFill>
                <a:latin typeface="Calibri"/>
              </a:defRPr>
            </a:pPr>
            <a:r>
              <a:t>Version 1.0 — Juin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